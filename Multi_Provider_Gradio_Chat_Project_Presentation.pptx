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0208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738653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367308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6157565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064727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35007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586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680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1788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359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1886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1203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78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7064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4969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391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645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412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87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4013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0946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09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8519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2092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73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9050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225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6F6E84-0F6D-F382-3A3C-F1DF60D5D4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338C95-8B7B-3E64-51EE-994CA6EF8A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7A1F14-592C-BF8B-7E19-61F6FEFED1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6489BC-D4CF-87A0-CE33-29A47341CA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07D008-4280-9C6D-3BF1-9A2FE39770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EB817A-F62E-B8DD-225D-475F45B869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STER">
    <p:bg>
      <p:bgPr shadeToTitle="0">
        <a:solidFill>
          <a:srgbClr val="07122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894296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 w="12700">
            <a:solidFill>
              <a:srgbClr val="071224"/>
            </a:solidFill>
            <a:prstDash val="solid"/>
          </a:ln>
        </p:spPr>
      </p:sp>
      <p:sp>
        <p:nvSpPr>
          <p:cNvPr id="943987627" name="Shape 1"/>
          <p:cNvSpPr/>
          <p:nvPr/>
        </p:nvSpPr>
        <p:spPr bwMode="auto">
          <a:xfrm>
            <a:off x="0" y="0"/>
            <a:ext cx="12191695" cy="164592"/>
          </a:xfrm>
          <a:prstGeom prst="rect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187311587" name="Shape 2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87871237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53697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073939" name="Shape 0"/>
          <p:cNvSpPr/>
          <p:nvPr/>
        </p:nvSpPr>
        <p:spPr bwMode="auto">
          <a:xfrm>
            <a:off x="548640" y="502920"/>
            <a:ext cx="11064240" cy="5559552"/>
          </a:xfrm>
          <a:prstGeom prst="roundRect">
            <a:avLst>
              <a:gd name="adj" fmla="val 2961"/>
            </a:avLst>
          </a:prstGeom>
          <a:solidFill>
            <a:srgbClr val="0B1730">
              <a:alpha val="92000"/>
            </a:srgbClr>
          </a:solidFill>
          <a:ln w="12700">
            <a:solidFill>
              <a:srgbClr val="23375B"/>
            </a:solidFill>
            <a:prstDash val="solid"/>
          </a:ln>
        </p:spPr>
      </p:sp>
      <p:sp>
        <p:nvSpPr>
          <p:cNvPr id="1411865840" name="Shape 1"/>
          <p:cNvSpPr/>
          <p:nvPr/>
        </p:nvSpPr>
        <p:spPr bwMode="auto">
          <a:xfrm>
            <a:off x="7955280" y="1051560"/>
            <a:ext cx="2834640" cy="28346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0B1730">
              <a:alpha val="0"/>
            </a:srgbClr>
          </a:solidFill>
          <a:ln w="12700">
            <a:solidFill>
              <a:srgbClr val="36D6D2">
                <a:alpha val="82000"/>
              </a:srgbClr>
            </a:solidFill>
            <a:prstDash val="solid"/>
          </a:ln>
        </p:spPr>
      </p:sp>
      <p:sp>
        <p:nvSpPr>
          <p:cNvPr id="5610812" name="Shape 2"/>
          <p:cNvSpPr/>
          <p:nvPr/>
        </p:nvSpPr>
        <p:spPr bwMode="auto">
          <a:xfrm>
            <a:off x="8549640" y="155448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0B1730">
              <a:alpha val="0"/>
            </a:srgbClr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704876514" name="Shape 3"/>
          <p:cNvSpPr/>
          <p:nvPr/>
        </p:nvSpPr>
        <p:spPr bwMode="auto">
          <a:xfrm>
            <a:off x="9208008" y="2221992"/>
            <a:ext cx="164592" cy="164592"/>
          </a:xfrm>
          <a:prstGeom prst="ellipse">
            <a:avLst/>
          </a:prstGeom>
          <a:solidFill>
            <a:srgbClr val="27D17F"/>
          </a:solidFill>
          <a:ln w="12700">
            <a:solidFill>
              <a:srgbClr val="27D17F"/>
            </a:solidFill>
            <a:prstDash val="solid"/>
          </a:ln>
        </p:spPr>
      </p:sp>
      <p:sp>
        <p:nvSpPr>
          <p:cNvPr id="1653319588" name="Text 4"/>
          <p:cNvSpPr/>
          <p:nvPr/>
        </p:nvSpPr>
        <p:spPr bwMode="auto">
          <a:xfrm>
            <a:off x="914400" y="11887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Multi-Provider</a:t>
            </a:r>
            <a:endParaRPr lang="en-US" sz="2700"/>
          </a:p>
          <a:p>
            <a:pPr marL="0" indent="0">
              <a:buNone/>
              <a:defRPr/>
            </a:pPr>
            <a:r>
              <a:rPr lang="en-US" sz="27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Gradio Chat Pro</a:t>
            </a:r>
            <a:endParaRPr lang="en-US" sz="2700"/>
          </a:p>
        </p:txBody>
      </p:sp>
      <p:sp>
        <p:nvSpPr>
          <p:cNvPr id="809609887" name="Text 5"/>
          <p:cNvSpPr/>
          <p:nvPr/>
        </p:nvSpPr>
        <p:spPr bwMode="auto">
          <a:xfrm>
            <a:off x="914400" y="26974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A8B9D6"/>
                </a:solidFill>
              </a:rPr>
              <a:t>A compact chat application that connects to local and hosted AI providers, supports file-assisted conversations, and packages advanced controls into a clean UI.</a:t>
            </a:r>
            <a:endParaRPr lang="en-US" sz="1600"/>
          </a:p>
        </p:txBody>
      </p:sp>
      <p:sp>
        <p:nvSpPr>
          <p:cNvPr id="1444927562" name="Text 6"/>
          <p:cNvSpPr/>
          <p:nvPr/>
        </p:nvSpPr>
        <p:spPr bwMode="auto">
          <a:xfrm>
            <a:off x="914400" y="3822192"/>
            <a:ext cx="914400" cy="256032"/>
          </a:xfrm>
          <a:prstGeom prst="rect">
            <a:avLst/>
          </a:prstGeom>
          <a:solidFill>
            <a:srgbClr val="27D17F"/>
          </a:solidFill>
          <a:ln>
            <a:solidFill>
              <a:srgbClr val="27D17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Ollama</a:t>
            </a:r>
            <a:endParaRPr lang="en-US" sz="1100"/>
          </a:p>
        </p:txBody>
      </p:sp>
      <p:sp>
        <p:nvSpPr>
          <p:cNvPr id="1911454357" name="Text 7"/>
          <p:cNvSpPr/>
          <p:nvPr/>
        </p:nvSpPr>
        <p:spPr bwMode="auto">
          <a:xfrm>
            <a:off x="1938528" y="3822192"/>
            <a:ext cx="914400" cy="256032"/>
          </a:xfrm>
          <a:prstGeom prst="rect">
            <a:avLst/>
          </a:prstGeom>
          <a:solidFill>
            <a:srgbClr val="36D6D2"/>
          </a:solidFill>
          <a:ln>
            <a:solidFill>
              <a:srgbClr val="36D6D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Gemini</a:t>
            </a:r>
            <a:endParaRPr lang="en-US" sz="1100"/>
          </a:p>
        </p:txBody>
      </p:sp>
      <p:sp>
        <p:nvSpPr>
          <p:cNvPr id="941419450" name="Text 8"/>
          <p:cNvSpPr/>
          <p:nvPr/>
        </p:nvSpPr>
        <p:spPr bwMode="auto">
          <a:xfrm>
            <a:off x="2962656" y="3822192"/>
            <a:ext cx="914400" cy="256032"/>
          </a:xfrm>
          <a:prstGeom prst="rect">
            <a:avLst/>
          </a:prstGeom>
          <a:solidFill>
            <a:srgbClr val="6D5EF9"/>
          </a:solidFill>
          <a:ln>
            <a:solidFill>
              <a:srgbClr val="6D5EF9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OpenAI</a:t>
            </a:r>
            <a:endParaRPr lang="en-US" sz="1100"/>
          </a:p>
        </p:txBody>
      </p:sp>
      <p:sp>
        <p:nvSpPr>
          <p:cNvPr id="3603508" name="Text 9"/>
          <p:cNvSpPr/>
          <p:nvPr/>
        </p:nvSpPr>
        <p:spPr bwMode="auto">
          <a:xfrm>
            <a:off x="3986784" y="3822192"/>
            <a:ext cx="1005840" cy="256032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DeepSeek</a:t>
            </a:r>
            <a:endParaRPr lang="en-US" sz="1100"/>
          </a:p>
        </p:txBody>
      </p:sp>
      <p:sp>
        <p:nvSpPr>
          <p:cNvPr id="43705724" name="Shape 10"/>
          <p:cNvSpPr/>
          <p:nvPr/>
        </p:nvSpPr>
        <p:spPr bwMode="auto">
          <a:xfrm>
            <a:off x="7086600" y="4069080"/>
            <a:ext cx="3703320" cy="1115568"/>
          </a:xfrm>
          <a:prstGeom prst="roundRect">
            <a:avLst>
              <a:gd name="adj" fmla="val 9836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2434951" name="Shape 11"/>
          <p:cNvSpPr/>
          <p:nvPr/>
        </p:nvSpPr>
        <p:spPr bwMode="auto">
          <a:xfrm>
            <a:off x="7104888" y="4087368"/>
            <a:ext cx="54864" cy="1078992"/>
          </a:xfrm>
          <a:prstGeom prst="rect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770075991" name="Text 12"/>
          <p:cNvSpPr/>
          <p:nvPr/>
        </p:nvSpPr>
        <p:spPr bwMode="auto">
          <a:xfrm>
            <a:off x="7287768" y="42062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Core value</a:t>
            </a:r>
            <a:endParaRPr lang="en-US" sz="1800"/>
          </a:p>
        </p:txBody>
      </p:sp>
      <p:sp>
        <p:nvSpPr>
          <p:cNvPr id="164918280" name="Text 13"/>
          <p:cNvSpPr/>
          <p:nvPr/>
        </p:nvSpPr>
        <p:spPr bwMode="auto">
          <a:xfrm>
            <a:off x="7287768" y="4480560"/>
            <a:ext cx="33741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One interface for local experimentation, hosted APIs, model selection, uploads, streaming, and compact UX.</a:t>
            </a:r>
            <a:endParaRPr lang="en-US" sz="1300"/>
          </a:p>
        </p:txBody>
      </p:sp>
      <p:sp>
        <p:nvSpPr>
          <p:cNvPr id="179099021" name="Text 14"/>
          <p:cNvSpPr/>
          <p:nvPr/>
        </p:nvSpPr>
        <p:spPr bwMode="auto">
          <a:xfrm>
            <a:off x="914400" y="5074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D9DDFE"/>
                </a:solidFill>
              </a:rPr>
              <a:t>Project presentation</a:t>
            </a:r>
            <a:endParaRPr lang="en-US" sz="1200"/>
          </a:p>
        </p:txBody>
      </p:sp>
      <p:sp>
        <p:nvSpPr>
          <p:cNvPr id="92419259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390108" name="Text 0"/>
          <p:cNvSpPr/>
          <p:nvPr/>
        </p:nvSpPr>
        <p:spPr bwMode="auto">
          <a:xfrm>
            <a:off x="640080" y="4389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Problem and project goals</a:t>
            </a:r>
            <a:endParaRPr lang="en-US" sz="2800"/>
          </a:p>
        </p:txBody>
      </p:sp>
      <p:sp>
        <p:nvSpPr>
          <p:cNvPr id="439781892" name="Text 1"/>
          <p:cNvSpPr/>
          <p:nvPr/>
        </p:nvSpPr>
        <p:spPr bwMode="auto">
          <a:xfrm>
            <a:off x="640080" y="96926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8B9D6"/>
                </a:solidFill>
              </a:rPr>
              <a:t>Why this app was built and what it solves</a:t>
            </a:r>
            <a:endParaRPr lang="en-US" sz="1200"/>
          </a:p>
        </p:txBody>
      </p:sp>
      <p:sp>
        <p:nvSpPr>
          <p:cNvPr id="869857927" name="Shape 2"/>
          <p:cNvSpPr/>
          <p:nvPr/>
        </p:nvSpPr>
        <p:spPr bwMode="auto">
          <a:xfrm>
            <a:off x="640080" y="14173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3807683" name="Shape 3"/>
          <p:cNvSpPr/>
          <p:nvPr/>
        </p:nvSpPr>
        <p:spPr bwMode="auto">
          <a:xfrm>
            <a:off x="658368" y="1435608"/>
            <a:ext cx="54864" cy="179222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97509695" name="Text 4"/>
          <p:cNvSpPr/>
          <p:nvPr/>
        </p:nvSpPr>
        <p:spPr bwMode="auto">
          <a:xfrm>
            <a:off x="841248" y="1554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Problem</a:t>
            </a:r>
            <a:endParaRPr lang="en-US" sz="1800"/>
          </a:p>
        </p:txBody>
      </p:sp>
      <p:sp>
        <p:nvSpPr>
          <p:cNvPr id="1861413330" name="Text 5"/>
          <p:cNvSpPr/>
          <p:nvPr/>
        </p:nvSpPr>
        <p:spPr bwMode="auto">
          <a:xfrm>
            <a:off x="841248" y="1828800"/>
            <a:ext cx="319125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Users often need to test different AI providers, but switching tools, credential flows, model names, and file workflows creates friction.</a:t>
            </a:r>
            <a:endParaRPr lang="en-US" sz="1300"/>
          </a:p>
        </p:txBody>
      </p:sp>
      <p:sp>
        <p:nvSpPr>
          <p:cNvPr id="982081886" name="Shape 6"/>
          <p:cNvSpPr/>
          <p:nvPr/>
        </p:nvSpPr>
        <p:spPr bwMode="auto">
          <a:xfrm>
            <a:off x="4334256" y="14173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62669243" name="Shape 7"/>
          <p:cNvSpPr/>
          <p:nvPr/>
        </p:nvSpPr>
        <p:spPr bwMode="auto">
          <a:xfrm>
            <a:off x="4352544" y="1435608"/>
            <a:ext cx="54864" cy="1792224"/>
          </a:xfrm>
          <a:prstGeom prst="rect">
            <a:avLst/>
          </a:prstGeom>
          <a:solidFill>
            <a:srgbClr val="27D17F"/>
          </a:solidFill>
          <a:ln w="12700">
            <a:solidFill>
              <a:srgbClr val="27D17F"/>
            </a:solidFill>
            <a:prstDash val="solid"/>
          </a:ln>
        </p:spPr>
      </p:sp>
      <p:sp>
        <p:nvSpPr>
          <p:cNvPr id="313374624" name="Text 8"/>
          <p:cNvSpPr/>
          <p:nvPr/>
        </p:nvSpPr>
        <p:spPr bwMode="auto">
          <a:xfrm>
            <a:off x="4535424" y="1554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Goal</a:t>
            </a:r>
            <a:endParaRPr lang="en-US" sz="1800"/>
          </a:p>
        </p:txBody>
      </p:sp>
      <p:sp>
        <p:nvSpPr>
          <p:cNvPr id="803227821" name="Text 9"/>
          <p:cNvSpPr/>
          <p:nvPr/>
        </p:nvSpPr>
        <p:spPr bwMode="auto">
          <a:xfrm>
            <a:off x="4535424" y="1828800"/>
            <a:ext cx="319125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Create a single Gradio app that supports local and hosted providers, allows chat with files, and keeps the interface compact.</a:t>
            </a:r>
            <a:endParaRPr lang="en-US" sz="1300"/>
          </a:p>
        </p:txBody>
      </p:sp>
      <p:sp>
        <p:nvSpPr>
          <p:cNvPr id="9035371" name="Shape 10"/>
          <p:cNvSpPr/>
          <p:nvPr/>
        </p:nvSpPr>
        <p:spPr bwMode="auto">
          <a:xfrm>
            <a:off x="8028432" y="14173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3670151" name="Shape 11"/>
          <p:cNvSpPr/>
          <p:nvPr/>
        </p:nvSpPr>
        <p:spPr bwMode="auto">
          <a:xfrm>
            <a:off x="8046720" y="1435608"/>
            <a:ext cx="54864" cy="1792224"/>
          </a:xfrm>
          <a:prstGeom prst="rect">
            <a:avLst/>
          </a:prstGeom>
          <a:solidFill>
            <a:srgbClr val="36D6D2"/>
          </a:solidFill>
          <a:ln w="12700">
            <a:solidFill>
              <a:srgbClr val="36D6D2"/>
            </a:solidFill>
            <a:prstDash val="solid"/>
          </a:ln>
        </p:spPr>
      </p:sp>
      <p:sp>
        <p:nvSpPr>
          <p:cNvPr id="612218407" name="Text 12"/>
          <p:cNvSpPr/>
          <p:nvPr/>
        </p:nvSpPr>
        <p:spPr bwMode="auto">
          <a:xfrm>
            <a:off x="8229600" y="1554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Outcome</a:t>
            </a:r>
            <a:endParaRPr lang="en-US" sz="1800"/>
          </a:p>
        </p:txBody>
      </p:sp>
      <p:sp>
        <p:nvSpPr>
          <p:cNvPr id="7363243" name="Text 13"/>
          <p:cNvSpPr/>
          <p:nvPr/>
        </p:nvSpPr>
        <p:spPr bwMode="auto">
          <a:xfrm>
            <a:off x="8229600" y="1828800"/>
            <a:ext cx="319125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A reusable project scaffold for demos, experimentation, and side-by-side evaluation across providers and models.</a:t>
            </a:r>
            <a:endParaRPr lang="en-US" sz="1300"/>
          </a:p>
        </p:txBody>
      </p:sp>
      <p:sp>
        <p:nvSpPr>
          <p:cNvPr id="1512210668" name="Shape 14"/>
          <p:cNvSpPr/>
          <p:nvPr/>
        </p:nvSpPr>
        <p:spPr bwMode="auto">
          <a:xfrm>
            <a:off x="640080" y="3703320"/>
            <a:ext cx="10927079" cy="1828800"/>
          </a:xfrm>
          <a:prstGeom prst="roundRect">
            <a:avLst>
              <a:gd name="adj" fmla="val 6000"/>
            </a:avLst>
          </a:prstGeom>
          <a:solidFill>
            <a:srgbClr val="0D1A30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154026864" name="Text 15"/>
          <p:cNvSpPr/>
          <p:nvPr/>
        </p:nvSpPr>
        <p:spPr bwMode="auto">
          <a:xfrm>
            <a:off x="914400" y="3913632"/>
            <a:ext cx="10195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Support local Ollama and hosted Gemini, OpenAI, and DeepSeek.</a:t>
            </a:r>
            <a:endParaRPr lang="en-US" sz="1700"/>
          </a:p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Enable file upload for document-aware prompting and summaries.</a:t>
            </a:r>
            <a:endParaRPr lang="en-US" sz="1700"/>
          </a:p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Include streaming responses, model discovery, and provider health checks.</a:t>
            </a:r>
            <a:endParaRPr lang="en-US" sz="1700"/>
          </a:p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Expose advanced generation controls without leaving the chat workflow.</a:t>
            </a:r>
            <a:endParaRPr lang="en-US" sz="1700"/>
          </a:p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Reduce clutter with collapsible sections and a compact layout.</a:t>
            </a:r>
            <a:endParaRPr lang="en-US" sz="1700"/>
          </a:p>
        </p:txBody>
      </p:sp>
      <p:sp>
        <p:nvSpPr>
          <p:cNvPr id="150153275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121301" name="Text 0"/>
          <p:cNvSpPr/>
          <p:nvPr/>
        </p:nvSpPr>
        <p:spPr bwMode="auto">
          <a:xfrm>
            <a:off x="640080" y="4389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Solution architecture</a:t>
            </a:r>
            <a:endParaRPr lang="en-US" sz="2800"/>
          </a:p>
        </p:txBody>
      </p:sp>
      <p:sp>
        <p:nvSpPr>
          <p:cNvPr id="1683803605" name="Text 1"/>
          <p:cNvSpPr/>
          <p:nvPr/>
        </p:nvSpPr>
        <p:spPr bwMode="auto">
          <a:xfrm>
            <a:off x="640080" y="96926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8B9D6"/>
                </a:solidFill>
              </a:rPr>
              <a:t>How the app routes requests and normalizes provider behavior</a:t>
            </a:r>
            <a:endParaRPr lang="en-US" sz="1200"/>
          </a:p>
        </p:txBody>
      </p:sp>
      <p:sp>
        <p:nvSpPr>
          <p:cNvPr id="1356602004" name="Shape 2"/>
          <p:cNvSpPr/>
          <p:nvPr/>
        </p:nvSpPr>
        <p:spPr bwMode="auto">
          <a:xfrm>
            <a:off x="2468880" y="2331720"/>
            <a:ext cx="1737360" cy="0"/>
          </a:xfrm>
          <a:prstGeom prst="line">
            <a:avLst/>
          </a:prstGeom>
          <a:noFill/>
          <a:ln w="12700">
            <a:solidFill>
              <a:srgbClr val="5C739B"/>
            </a:solidFill>
            <a:prstDash val="solid"/>
            <a:tailEnd type="triangle"/>
          </a:ln>
        </p:spPr>
      </p:sp>
      <p:sp>
        <p:nvSpPr>
          <p:cNvPr id="1925556387" name="Shape 3"/>
          <p:cNvSpPr/>
          <p:nvPr/>
        </p:nvSpPr>
        <p:spPr bwMode="auto">
          <a:xfrm>
            <a:off x="4617720" y="2331720"/>
            <a:ext cx="1783080" cy="0"/>
          </a:xfrm>
          <a:prstGeom prst="line">
            <a:avLst/>
          </a:prstGeom>
          <a:noFill/>
          <a:ln w="12700">
            <a:solidFill>
              <a:srgbClr val="5C739B"/>
            </a:solidFill>
            <a:prstDash val="solid"/>
            <a:tailEnd type="triangle"/>
          </a:ln>
        </p:spPr>
      </p:sp>
      <p:sp>
        <p:nvSpPr>
          <p:cNvPr id="1622587447" name="Shape 4"/>
          <p:cNvSpPr/>
          <p:nvPr/>
        </p:nvSpPr>
        <p:spPr bwMode="auto">
          <a:xfrm>
            <a:off x="4617720" y="2331720"/>
            <a:ext cx="1783080" cy="0"/>
          </a:xfrm>
          <a:prstGeom prst="line">
            <a:avLst/>
          </a:prstGeom>
          <a:noFill/>
          <a:ln w="12700">
            <a:solidFill>
              <a:srgbClr val="5C739B"/>
            </a:solidFill>
            <a:prstDash val="solid"/>
            <a:tailEnd type="triangle"/>
          </a:ln>
        </p:spPr>
      </p:sp>
      <p:sp>
        <p:nvSpPr>
          <p:cNvPr id="770478101" name="Shape 5"/>
          <p:cNvSpPr/>
          <p:nvPr/>
        </p:nvSpPr>
        <p:spPr bwMode="auto">
          <a:xfrm>
            <a:off x="4617720" y="2331720"/>
            <a:ext cx="1783080" cy="685800"/>
          </a:xfrm>
          <a:prstGeom prst="line">
            <a:avLst/>
          </a:prstGeom>
          <a:noFill/>
          <a:ln w="12700">
            <a:solidFill>
              <a:srgbClr val="5C739B"/>
            </a:solidFill>
            <a:prstDash val="solid"/>
            <a:tailEnd type="triangle"/>
          </a:ln>
        </p:spPr>
      </p:sp>
      <p:sp>
        <p:nvSpPr>
          <p:cNvPr id="1354024841" name="Shape 6"/>
          <p:cNvSpPr/>
          <p:nvPr/>
        </p:nvSpPr>
        <p:spPr bwMode="auto">
          <a:xfrm>
            <a:off x="640080" y="169164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70671479" name="Shape 7"/>
          <p:cNvSpPr/>
          <p:nvPr/>
        </p:nvSpPr>
        <p:spPr bwMode="auto">
          <a:xfrm>
            <a:off x="658368" y="1709928"/>
            <a:ext cx="54864" cy="1197864"/>
          </a:xfrm>
          <a:prstGeom prst="rect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692721873" name="Text 8"/>
          <p:cNvSpPr/>
          <p:nvPr/>
        </p:nvSpPr>
        <p:spPr bwMode="auto">
          <a:xfrm>
            <a:off x="841248" y="1828800"/>
            <a:ext cx="15087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User</a:t>
            </a:r>
            <a:endParaRPr lang="en-US" sz="1800"/>
          </a:p>
        </p:txBody>
      </p:sp>
      <p:sp>
        <p:nvSpPr>
          <p:cNvPr id="1833211194" name="Text 9"/>
          <p:cNvSpPr/>
          <p:nvPr/>
        </p:nvSpPr>
        <p:spPr bwMode="auto">
          <a:xfrm>
            <a:off x="841248" y="2103120"/>
            <a:ext cx="149961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Writes prompts, uploads files, and selects a provider.</a:t>
            </a:r>
            <a:endParaRPr lang="en-US" sz="1300"/>
          </a:p>
        </p:txBody>
      </p:sp>
      <p:sp>
        <p:nvSpPr>
          <p:cNvPr id="346281263" name="Shape 10"/>
          <p:cNvSpPr/>
          <p:nvPr/>
        </p:nvSpPr>
        <p:spPr bwMode="auto">
          <a:xfrm>
            <a:off x="2788920" y="169164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62035059" name="Shape 11"/>
          <p:cNvSpPr/>
          <p:nvPr/>
        </p:nvSpPr>
        <p:spPr bwMode="auto">
          <a:xfrm>
            <a:off x="2807208" y="1709928"/>
            <a:ext cx="54864" cy="1197864"/>
          </a:xfrm>
          <a:prstGeom prst="rect">
            <a:avLst/>
          </a:prstGeom>
          <a:solidFill>
            <a:srgbClr val="36D6D2"/>
          </a:solidFill>
          <a:ln w="12700">
            <a:solidFill>
              <a:srgbClr val="36D6D2"/>
            </a:solidFill>
            <a:prstDash val="solid"/>
          </a:ln>
        </p:spPr>
      </p:sp>
      <p:sp>
        <p:nvSpPr>
          <p:cNvPr id="1914695669" name="Text 12"/>
          <p:cNvSpPr/>
          <p:nvPr/>
        </p:nvSpPr>
        <p:spPr bwMode="auto">
          <a:xfrm>
            <a:off x="2990088" y="1828800"/>
            <a:ext cx="15087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Gradio UI</a:t>
            </a:r>
            <a:endParaRPr lang="en-US" sz="1800"/>
          </a:p>
        </p:txBody>
      </p:sp>
      <p:sp>
        <p:nvSpPr>
          <p:cNvPr id="1343609301" name="Text 13"/>
          <p:cNvSpPr/>
          <p:nvPr/>
        </p:nvSpPr>
        <p:spPr bwMode="auto">
          <a:xfrm>
            <a:off x="2990088" y="2103120"/>
            <a:ext cx="149961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Compact interface with chat front and collapsible utilities.</a:t>
            </a:r>
            <a:endParaRPr lang="en-US" sz="1300"/>
          </a:p>
        </p:txBody>
      </p:sp>
      <p:sp>
        <p:nvSpPr>
          <p:cNvPr id="1224550131" name="Shape 14"/>
          <p:cNvSpPr/>
          <p:nvPr/>
        </p:nvSpPr>
        <p:spPr bwMode="auto">
          <a:xfrm>
            <a:off x="6720840" y="132588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22348549" name="Shape 15"/>
          <p:cNvSpPr/>
          <p:nvPr/>
        </p:nvSpPr>
        <p:spPr bwMode="auto">
          <a:xfrm>
            <a:off x="6739128" y="1344168"/>
            <a:ext cx="54864" cy="1014984"/>
          </a:xfrm>
          <a:prstGeom prst="rect">
            <a:avLst/>
          </a:prstGeom>
          <a:solidFill>
            <a:srgbClr val="27D17F"/>
          </a:solidFill>
          <a:ln w="12700">
            <a:solidFill>
              <a:srgbClr val="27D17F"/>
            </a:solidFill>
            <a:prstDash val="solid"/>
          </a:ln>
        </p:spPr>
      </p:sp>
      <p:sp>
        <p:nvSpPr>
          <p:cNvPr id="1533301717" name="Text 16"/>
          <p:cNvSpPr/>
          <p:nvPr/>
        </p:nvSpPr>
        <p:spPr bwMode="auto">
          <a:xfrm>
            <a:off x="6922008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Provider adapter</a:t>
            </a:r>
            <a:endParaRPr lang="en-US" sz="1800"/>
          </a:p>
        </p:txBody>
      </p:sp>
      <p:sp>
        <p:nvSpPr>
          <p:cNvPr id="1030395546" name="Text 17"/>
          <p:cNvSpPr/>
          <p:nvPr/>
        </p:nvSpPr>
        <p:spPr bwMode="auto">
          <a:xfrm>
            <a:off x="6922008" y="1737360"/>
            <a:ext cx="37398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Maps shared app inputs to local Ollama or hosted provider request formats.</a:t>
            </a:r>
            <a:endParaRPr lang="en-US" sz="1300"/>
          </a:p>
        </p:txBody>
      </p:sp>
      <p:sp>
        <p:nvSpPr>
          <p:cNvPr id="1500747119" name="Shape 18"/>
          <p:cNvSpPr/>
          <p:nvPr/>
        </p:nvSpPr>
        <p:spPr bwMode="auto">
          <a:xfrm>
            <a:off x="6720840" y="256032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20079953" name="Shape 19"/>
          <p:cNvSpPr/>
          <p:nvPr/>
        </p:nvSpPr>
        <p:spPr bwMode="auto">
          <a:xfrm>
            <a:off x="6739128" y="2578608"/>
            <a:ext cx="54864" cy="101498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612946455" name="Text 20"/>
          <p:cNvSpPr/>
          <p:nvPr/>
        </p:nvSpPr>
        <p:spPr bwMode="auto">
          <a:xfrm>
            <a:off x="6922008" y="2697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File pipeline</a:t>
            </a:r>
            <a:endParaRPr lang="en-US" sz="1800"/>
          </a:p>
        </p:txBody>
      </p:sp>
      <p:sp>
        <p:nvSpPr>
          <p:cNvPr id="1557603832" name="Text 21"/>
          <p:cNvSpPr/>
          <p:nvPr/>
        </p:nvSpPr>
        <p:spPr bwMode="auto">
          <a:xfrm>
            <a:off x="6922008" y="2971800"/>
            <a:ext cx="37398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Parses uploads, chunks content, and adds context to the current prompt.</a:t>
            </a:r>
            <a:endParaRPr lang="en-US" sz="1300"/>
          </a:p>
        </p:txBody>
      </p:sp>
      <p:sp>
        <p:nvSpPr>
          <p:cNvPr id="202097336" name="Shape 22"/>
          <p:cNvSpPr/>
          <p:nvPr/>
        </p:nvSpPr>
        <p:spPr bwMode="auto">
          <a:xfrm>
            <a:off x="6720840" y="379476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67805570" name="Shape 23"/>
          <p:cNvSpPr/>
          <p:nvPr/>
        </p:nvSpPr>
        <p:spPr bwMode="auto">
          <a:xfrm>
            <a:off x="6739128" y="3813048"/>
            <a:ext cx="54864" cy="10149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90756938" name="Text 24"/>
          <p:cNvSpPr/>
          <p:nvPr/>
        </p:nvSpPr>
        <p:spPr bwMode="auto">
          <a:xfrm>
            <a:off x="6922008" y="3931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State &amp; diagnostics</a:t>
            </a:r>
            <a:endParaRPr lang="en-US" sz="1800"/>
          </a:p>
        </p:txBody>
      </p:sp>
      <p:sp>
        <p:nvSpPr>
          <p:cNvPr id="336308653" name="Text 25"/>
          <p:cNvSpPr/>
          <p:nvPr/>
        </p:nvSpPr>
        <p:spPr bwMode="auto">
          <a:xfrm>
            <a:off x="6922008" y="4206240"/>
            <a:ext cx="37398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Tracks history, health checks, exports, and streaming status for the session.</a:t>
            </a:r>
            <a:endParaRPr lang="en-US" sz="1300"/>
          </a:p>
        </p:txBody>
      </p:sp>
      <p:sp>
        <p:nvSpPr>
          <p:cNvPr id="1853380103" name="Shape 26"/>
          <p:cNvSpPr/>
          <p:nvPr/>
        </p:nvSpPr>
        <p:spPr bwMode="auto">
          <a:xfrm>
            <a:off x="777240" y="4160519"/>
            <a:ext cx="5074920" cy="960120"/>
          </a:xfrm>
          <a:prstGeom prst="roundRect">
            <a:avLst>
              <a:gd name="adj" fmla="val 11429"/>
            </a:avLst>
          </a:prstGeom>
          <a:solidFill>
            <a:srgbClr val="0D1A30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442935061" name="Text 27"/>
          <p:cNvSpPr/>
          <p:nvPr/>
        </p:nvSpPr>
        <p:spPr bwMode="auto">
          <a:xfrm>
            <a:off x="987552" y="4315968"/>
            <a:ext cx="4572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  <a:defRPr/>
            </a:pPr>
            <a:r>
              <a:rPr lang="en-US" sz="1300">
                <a:solidFill>
                  <a:srgbClr val="EAF2FF"/>
                </a:solidFill>
              </a:rPr>
              <a:t>Single user experience across multiple providers.</a:t>
            </a:r>
            <a:endParaRPr lang="en-US" sz="1300"/>
          </a:p>
          <a:p>
            <a:pPr marL="177800" indent="-177800">
              <a:buSzPct val="100000"/>
              <a:buChar char="•"/>
              <a:defRPr/>
            </a:pPr>
            <a:r>
              <a:rPr lang="en-US" sz="1300">
                <a:solidFill>
                  <a:srgbClr val="EAF2FF"/>
                </a:solidFill>
              </a:rPr>
              <a:t>Shared controls for temperature, context, and system prompts.</a:t>
            </a:r>
            <a:endParaRPr lang="en-US" sz="1300"/>
          </a:p>
          <a:p>
            <a:pPr marL="177800" indent="-177800">
              <a:buSzPct val="100000"/>
              <a:buChar char="•"/>
              <a:defRPr/>
            </a:pPr>
            <a:r>
              <a:rPr lang="en-US" sz="1300">
                <a:solidFill>
                  <a:srgbClr val="EAF2FF"/>
                </a:solidFill>
              </a:rPr>
              <a:t>Provider-specific details hidden behind adapter logic.</a:t>
            </a:r>
            <a:endParaRPr lang="en-US" sz="1300"/>
          </a:p>
        </p:txBody>
      </p:sp>
      <p:sp>
        <p:nvSpPr>
          <p:cNvPr id="188320584" name="Text 28"/>
          <p:cNvSpPr/>
          <p:nvPr/>
        </p:nvSpPr>
        <p:spPr bwMode="auto">
          <a:xfrm>
            <a:off x="685800" y="6309360"/>
            <a:ext cx="978407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7D90B5"/>
                </a:solidFill>
              </a:rPr>
              <a:t>Architecture emphasizes a shared UI with provider-specific adapters.</a:t>
            </a:r>
            <a:endParaRPr lang="en-US" sz="1000"/>
          </a:p>
        </p:txBody>
      </p:sp>
      <p:sp>
        <p:nvSpPr>
          <p:cNvPr id="52486884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526031" name="Text 0"/>
          <p:cNvSpPr/>
          <p:nvPr/>
        </p:nvSpPr>
        <p:spPr bwMode="auto">
          <a:xfrm>
            <a:off x="640080" y="4389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Key capabilities</a:t>
            </a:r>
            <a:endParaRPr lang="en-US" sz="2800"/>
          </a:p>
        </p:txBody>
      </p:sp>
      <p:sp>
        <p:nvSpPr>
          <p:cNvPr id="447760674" name="Text 1"/>
          <p:cNvSpPr/>
          <p:nvPr/>
        </p:nvSpPr>
        <p:spPr bwMode="auto">
          <a:xfrm>
            <a:off x="640080" y="96926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8B9D6"/>
                </a:solidFill>
              </a:rPr>
              <a:t>What the application can do today</a:t>
            </a:r>
            <a:endParaRPr lang="en-US" sz="1200"/>
          </a:p>
        </p:txBody>
      </p:sp>
      <p:sp>
        <p:nvSpPr>
          <p:cNvPr id="326304973" name="Shape 2"/>
          <p:cNvSpPr/>
          <p:nvPr/>
        </p:nvSpPr>
        <p:spPr bwMode="auto">
          <a:xfrm>
            <a:off x="685800" y="141732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46747831" name="Shape 3"/>
          <p:cNvSpPr/>
          <p:nvPr/>
        </p:nvSpPr>
        <p:spPr bwMode="auto">
          <a:xfrm>
            <a:off x="704088" y="1435608"/>
            <a:ext cx="54864" cy="1655063"/>
          </a:xfrm>
          <a:prstGeom prst="rect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166617742" name="Text 4"/>
          <p:cNvSpPr/>
          <p:nvPr/>
        </p:nvSpPr>
        <p:spPr bwMode="auto">
          <a:xfrm>
            <a:off x="886968" y="1554480"/>
            <a:ext cx="30175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Provider switching</a:t>
            </a:r>
            <a:endParaRPr lang="en-US" sz="1800"/>
          </a:p>
        </p:txBody>
      </p:sp>
      <p:sp>
        <p:nvSpPr>
          <p:cNvPr id="1059893661" name="Text 5"/>
          <p:cNvSpPr/>
          <p:nvPr/>
        </p:nvSpPr>
        <p:spPr bwMode="auto">
          <a:xfrm>
            <a:off x="886968" y="1828800"/>
            <a:ext cx="300837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Move between Ollama, Gemini, OpenAI, and DeepSeek from one interface.</a:t>
            </a:r>
            <a:endParaRPr lang="en-US" sz="1300"/>
          </a:p>
        </p:txBody>
      </p:sp>
      <p:sp>
        <p:nvSpPr>
          <p:cNvPr id="880323628" name="Shape 6"/>
          <p:cNvSpPr/>
          <p:nvPr/>
        </p:nvSpPr>
        <p:spPr bwMode="auto">
          <a:xfrm>
            <a:off x="4480560" y="141732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1850022" name="Shape 7"/>
          <p:cNvSpPr/>
          <p:nvPr/>
        </p:nvSpPr>
        <p:spPr bwMode="auto">
          <a:xfrm>
            <a:off x="4498848" y="1435608"/>
            <a:ext cx="54864" cy="1655063"/>
          </a:xfrm>
          <a:prstGeom prst="rect">
            <a:avLst/>
          </a:prstGeom>
          <a:solidFill>
            <a:srgbClr val="27D17F"/>
          </a:solidFill>
          <a:ln w="12700">
            <a:solidFill>
              <a:srgbClr val="27D17F"/>
            </a:solidFill>
            <a:prstDash val="solid"/>
          </a:ln>
        </p:spPr>
      </p:sp>
      <p:sp>
        <p:nvSpPr>
          <p:cNvPr id="977009264" name="Text 8"/>
          <p:cNvSpPr/>
          <p:nvPr/>
        </p:nvSpPr>
        <p:spPr bwMode="auto">
          <a:xfrm>
            <a:off x="4681728" y="1554480"/>
            <a:ext cx="30175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Streaming chat</a:t>
            </a:r>
            <a:endParaRPr lang="en-US" sz="1800"/>
          </a:p>
        </p:txBody>
      </p:sp>
      <p:sp>
        <p:nvSpPr>
          <p:cNvPr id="1376799747" name="Text 9"/>
          <p:cNvSpPr/>
          <p:nvPr/>
        </p:nvSpPr>
        <p:spPr bwMode="auto">
          <a:xfrm>
            <a:off x="4681728" y="1828800"/>
            <a:ext cx="300837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Show incremental responses and animated request states during generation.</a:t>
            </a:r>
            <a:endParaRPr lang="en-US" sz="1300"/>
          </a:p>
        </p:txBody>
      </p:sp>
      <p:sp>
        <p:nvSpPr>
          <p:cNvPr id="374107787" name="Shape 10"/>
          <p:cNvSpPr/>
          <p:nvPr/>
        </p:nvSpPr>
        <p:spPr bwMode="auto">
          <a:xfrm>
            <a:off x="8275320" y="141732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95933861" name="Shape 11"/>
          <p:cNvSpPr/>
          <p:nvPr/>
        </p:nvSpPr>
        <p:spPr bwMode="auto">
          <a:xfrm>
            <a:off x="8293607" y="1435608"/>
            <a:ext cx="54864" cy="1655063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423866775" name="Text 12"/>
          <p:cNvSpPr/>
          <p:nvPr/>
        </p:nvSpPr>
        <p:spPr bwMode="auto">
          <a:xfrm>
            <a:off x="8476488" y="1554480"/>
            <a:ext cx="30175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File-assisted prompts</a:t>
            </a:r>
            <a:endParaRPr lang="en-US" sz="1800"/>
          </a:p>
        </p:txBody>
      </p:sp>
      <p:sp>
        <p:nvSpPr>
          <p:cNvPr id="448328753" name="Text 13"/>
          <p:cNvSpPr/>
          <p:nvPr/>
        </p:nvSpPr>
        <p:spPr bwMode="auto">
          <a:xfrm>
            <a:off x="8476488" y="1828800"/>
            <a:ext cx="300837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Upload documents and feed extracted content into the current conversation.</a:t>
            </a:r>
            <a:endParaRPr lang="en-US" sz="1300"/>
          </a:p>
        </p:txBody>
      </p:sp>
      <p:sp>
        <p:nvSpPr>
          <p:cNvPr id="1223405798" name="Shape 14"/>
          <p:cNvSpPr/>
          <p:nvPr/>
        </p:nvSpPr>
        <p:spPr bwMode="auto">
          <a:xfrm>
            <a:off x="685800" y="356616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27302235" name="Shape 15"/>
          <p:cNvSpPr/>
          <p:nvPr/>
        </p:nvSpPr>
        <p:spPr bwMode="auto">
          <a:xfrm>
            <a:off x="704088" y="3584448"/>
            <a:ext cx="54864" cy="1655063"/>
          </a:xfrm>
          <a:prstGeom prst="rect">
            <a:avLst/>
          </a:prstGeom>
          <a:solidFill>
            <a:srgbClr val="36D6D2"/>
          </a:solidFill>
          <a:ln w="12700">
            <a:solidFill>
              <a:srgbClr val="36D6D2"/>
            </a:solidFill>
            <a:prstDash val="solid"/>
          </a:ln>
        </p:spPr>
      </p:sp>
      <p:sp>
        <p:nvSpPr>
          <p:cNvPr id="968601083" name="Text 16"/>
          <p:cNvSpPr/>
          <p:nvPr/>
        </p:nvSpPr>
        <p:spPr bwMode="auto">
          <a:xfrm>
            <a:off x="886968" y="3703320"/>
            <a:ext cx="30175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Model discovery</a:t>
            </a:r>
            <a:endParaRPr lang="en-US" sz="1800"/>
          </a:p>
        </p:txBody>
      </p:sp>
      <p:sp>
        <p:nvSpPr>
          <p:cNvPr id="2121283265" name="Text 17"/>
          <p:cNvSpPr/>
          <p:nvPr/>
        </p:nvSpPr>
        <p:spPr bwMode="auto">
          <a:xfrm>
            <a:off x="886968" y="3977640"/>
            <a:ext cx="300837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Fetch available models and sync the selected model into the active session.</a:t>
            </a:r>
            <a:endParaRPr lang="en-US" sz="1300"/>
          </a:p>
        </p:txBody>
      </p:sp>
      <p:sp>
        <p:nvSpPr>
          <p:cNvPr id="1174323004" name="Shape 18"/>
          <p:cNvSpPr/>
          <p:nvPr/>
        </p:nvSpPr>
        <p:spPr bwMode="auto">
          <a:xfrm>
            <a:off x="4480560" y="356616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13095507" name="Shape 19"/>
          <p:cNvSpPr/>
          <p:nvPr/>
        </p:nvSpPr>
        <p:spPr bwMode="auto">
          <a:xfrm>
            <a:off x="4498848" y="3584448"/>
            <a:ext cx="54864" cy="1655063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2188100" name="Text 20"/>
          <p:cNvSpPr/>
          <p:nvPr/>
        </p:nvSpPr>
        <p:spPr bwMode="auto">
          <a:xfrm>
            <a:off x="4681728" y="3703320"/>
            <a:ext cx="30175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Advanced controls</a:t>
            </a:r>
            <a:endParaRPr lang="en-US" sz="1800"/>
          </a:p>
        </p:txBody>
      </p:sp>
      <p:sp>
        <p:nvSpPr>
          <p:cNvPr id="1634438498" name="Text 21"/>
          <p:cNvSpPr/>
          <p:nvPr/>
        </p:nvSpPr>
        <p:spPr bwMode="auto">
          <a:xfrm>
            <a:off x="4681728" y="3977640"/>
            <a:ext cx="300837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Tune temperature, context budget, system prompt, and provider-specific options.</a:t>
            </a:r>
            <a:endParaRPr lang="en-US" sz="1300"/>
          </a:p>
        </p:txBody>
      </p:sp>
      <p:sp>
        <p:nvSpPr>
          <p:cNvPr id="2130366432" name="Shape 22"/>
          <p:cNvSpPr/>
          <p:nvPr/>
        </p:nvSpPr>
        <p:spPr bwMode="auto">
          <a:xfrm>
            <a:off x="8275320" y="356616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10729277" name="Shape 23"/>
          <p:cNvSpPr/>
          <p:nvPr/>
        </p:nvSpPr>
        <p:spPr bwMode="auto">
          <a:xfrm>
            <a:off x="8293607" y="3584448"/>
            <a:ext cx="54864" cy="1655063"/>
          </a:xfrm>
          <a:prstGeom prst="rect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225263657" name="Text 24"/>
          <p:cNvSpPr/>
          <p:nvPr/>
        </p:nvSpPr>
        <p:spPr bwMode="auto">
          <a:xfrm>
            <a:off x="8476488" y="3703320"/>
            <a:ext cx="30175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Project utilities</a:t>
            </a:r>
            <a:endParaRPr lang="en-US" sz="1800"/>
          </a:p>
        </p:txBody>
      </p:sp>
      <p:sp>
        <p:nvSpPr>
          <p:cNvPr id="857573888" name="Text 25"/>
          <p:cNvSpPr/>
          <p:nvPr/>
        </p:nvSpPr>
        <p:spPr bwMode="auto">
          <a:xfrm>
            <a:off x="8476488" y="3977640"/>
            <a:ext cx="300837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Run health checks and save, load, or export chats for later review.</a:t>
            </a:r>
            <a:endParaRPr lang="en-US" sz="1300"/>
          </a:p>
        </p:txBody>
      </p:sp>
      <p:sp>
        <p:nvSpPr>
          <p:cNvPr id="93429719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228124" name="Text 0"/>
          <p:cNvSpPr/>
          <p:nvPr/>
        </p:nvSpPr>
        <p:spPr bwMode="auto">
          <a:xfrm>
            <a:off x="640080" y="4389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UX evolution during development</a:t>
            </a:r>
            <a:endParaRPr lang="en-US" sz="2800"/>
          </a:p>
        </p:txBody>
      </p:sp>
      <p:sp>
        <p:nvSpPr>
          <p:cNvPr id="254081760" name="Text 1"/>
          <p:cNvSpPr/>
          <p:nvPr/>
        </p:nvSpPr>
        <p:spPr bwMode="auto">
          <a:xfrm>
            <a:off x="640080" y="96926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8B9D6"/>
                </a:solidFill>
              </a:rPr>
              <a:t>The interface was refined from feature-rich to easier-to-browse</a:t>
            </a:r>
            <a:endParaRPr lang="en-US" sz="1200"/>
          </a:p>
        </p:txBody>
      </p:sp>
      <p:sp>
        <p:nvSpPr>
          <p:cNvPr id="691811222" name="Shape 2"/>
          <p:cNvSpPr/>
          <p:nvPr/>
        </p:nvSpPr>
        <p:spPr bwMode="auto">
          <a:xfrm>
            <a:off x="731520" y="141732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0C1A31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891771039" name="Text 3"/>
          <p:cNvSpPr/>
          <p:nvPr/>
        </p:nvSpPr>
        <p:spPr bwMode="auto">
          <a:xfrm>
            <a:off x="987552" y="16642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EAF2FF"/>
                </a:solidFill>
              </a:rPr>
              <a:t>Initial direction</a:t>
            </a:r>
            <a:endParaRPr lang="en-US" sz="2100"/>
          </a:p>
        </p:txBody>
      </p:sp>
      <p:sp>
        <p:nvSpPr>
          <p:cNvPr id="272364648" name="Text 4"/>
          <p:cNvSpPr/>
          <p:nvPr/>
        </p:nvSpPr>
        <p:spPr bwMode="auto">
          <a:xfrm>
            <a:off x="987552" y="2011680"/>
            <a:ext cx="4389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Many controls visible at once.</a:t>
            </a:r>
            <a:endParaRPr lang="en-US" sz="1800"/>
          </a:p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Wide layout consumed horizontal space.</a:t>
            </a:r>
            <a:endParaRPr lang="en-US" sz="1800"/>
          </a:p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Model and file utilities competed with the chat area.</a:t>
            </a:r>
            <a:endParaRPr lang="en-US" sz="1800"/>
          </a:p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Navigation became harder on smaller displays.</a:t>
            </a:r>
            <a:endParaRPr lang="en-US" sz="1800"/>
          </a:p>
        </p:txBody>
      </p:sp>
      <p:sp>
        <p:nvSpPr>
          <p:cNvPr id="1080611829" name="Shape 5"/>
          <p:cNvSpPr/>
          <p:nvPr/>
        </p:nvSpPr>
        <p:spPr bwMode="auto">
          <a:xfrm>
            <a:off x="5833872" y="3291840"/>
            <a:ext cx="164592" cy="146304"/>
          </a:xfrm>
          <a:prstGeom prst="chevron">
            <a:avLst>
              <a:gd name="adj" fmla="val 50000"/>
            </a:avLst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234710774" name="Shape 6"/>
          <p:cNvSpPr/>
          <p:nvPr/>
        </p:nvSpPr>
        <p:spPr bwMode="auto">
          <a:xfrm>
            <a:off x="6355080" y="141732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0C1A31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906330819" name="Text 7"/>
          <p:cNvSpPr/>
          <p:nvPr/>
        </p:nvSpPr>
        <p:spPr bwMode="auto">
          <a:xfrm>
            <a:off x="6611112" y="16642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EAF2FF"/>
                </a:solidFill>
              </a:rPr>
              <a:t>Refined direction</a:t>
            </a:r>
            <a:endParaRPr lang="en-US" sz="2100"/>
          </a:p>
        </p:txBody>
      </p:sp>
      <p:sp>
        <p:nvSpPr>
          <p:cNvPr id="1970241975" name="Text 8"/>
          <p:cNvSpPr/>
          <p:nvPr/>
        </p:nvSpPr>
        <p:spPr bwMode="auto">
          <a:xfrm>
            <a:off x="6611112" y="2011680"/>
            <a:ext cx="43434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Only provider and current model stay always visible.</a:t>
            </a:r>
            <a:endParaRPr lang="en-US" sz="1800"/>
          </a:p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Model picker, files, and settings move into collapsible sections.</a:t>
            </a:r>
            <a:endParaRPr lang="en-US" sz="1800"/>
          </a:p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Chat stays central and easier to follow.</a:t>
            </a:r>
            <a:endParaRPr lang="en-US" sz="1800"/>
          </a:p>
          <a:p>
            <a:pPr marL="177800" indent="-177800"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</a:rPr>
              <a:t>Layout feels closer to a real application than a debug console.</a:t>
            </a:r>
            <a:endParaRPr lang="en-US" sz="1800"/>
          </a:p>
        </p:txBody>
      </p:sp>
      <p:sp>
        <p:nvSpPr>
          <p:cNvPr id="1168281349" name="Text 9"/>
          <p:cNvSpPr/>
          <p:nvPr/>
        </p:nvSpPr>
        <p:spPr bwMode="auto">
          <a:xfrm>
            <a:off x="8321039" y="5166360"/>
            <a:ext cx="1097280" cy="256032"/>
          </a:xfrm>
          <a:prstGeom prst="rect">
            <a:avLst/>
          </a:prstGeom>
          <a:solidFill>
            <a:srgbClr val="27D17F"/>
          </a:solidFill>
          <a:ln>
            <a:solidFill>
              <a:srgbClr val="27D17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Compact UI</a:t>
            </a:r>
            <a:endParaRPr lang="en-US" sz="1100"/>
          </a:p>
        </p:txBody>
      </p:sp>
      <p:sp>
        <p:nvSpPr>
          <p:cNvPr id="957500972" name="Text 10"/>
          <p:cNvSpPr/>
          <p:nvPr/>
        </p:nvSpPr>
        <p:spPr bwMode="auto">
          <a:xfrm>
            <a:off x="685800" y="6309360"/>
            <a:ext cx="978407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7D90B5"/>
                </a:solidFill>
              </a:rPr>
              <a:t>This was one of the main product improvements requested during iteration.</a:t>
            </a:r>
            <a:endParaRPr lang="en-US" sz="1000"/>
          </a:p>
        </p:txBody>
      </p:sp>
      <p:sp>
        <p:nvSpPr>
          <p:cNvPr id="125234213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554267" name="Text 0"/>
          <p:cNvSpPr/>
          <p:nvPr/>
        </p:nvSpPr>
        <p:spPr bwMode="auto">
          <a:xfrm>
            <a:off x="640080" y="4389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Implementation highlights</a:t>
            </a:r>
            <a:endParaRPr lang="en-US" sz="2800"/>
          </a:p>
        </p:txBody>
      </p:sp>
      <p:sp>
        <p:nvSpPr>
          <p:cNvPr id="397057465" name="Text 1"/>
          <p:cNvSpPr/>
          <p:nvPr/>
        </p:nvSpPr>
        <p:spPr bwMode="auto">
          <a:xfrm>
            <a:off x="640080" y="96926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8B9D6"/>
                </a:solidFill>
              </a:rPr>
              <a:t>Important technical choices and engineering lessons</a:t>
            </a:r>
            <a:endParaRPr lang="en-US" sz="1200"/>
          </a:p>
        </p:txBody>
      </p:sp>
      <p:sp>
        <p:nvSpPr>
          <p:cNvPr id="1420565914" name="Shape 2"/>
          <p:cNvSpPr/>
          <p:nvPr/>
        </p:nvSpPr>
        <p:spPr bwMode="auto">
          <a:xfrm>
            <a:off x="640080" y="141732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70768205" name="Shape 3"/>
          <p:cNvSpPr/>
          <p:nvPr/>
        </p:nvSpPr>
        <p:spPr bwMode="auto">
          <a:xfrm>
            <a:off x="658368" y="1435608"/>
            <a:ext cx="54864" cy="14264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64145638" name="Text 4"/>
          <p:cNvSpPr/>
          <p:nvPr/>
        </p:nvSpPr>
        <p:spPr bwMode="auto">
          <a:xfrm>
            <a:off x="841248" y="15544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Message normalization</a:t>
            </a:r>
            <a:endParaRPr lang="en-US" sz="1800"/>
          </a:p>
        </p:txBody>
      </p:sp>
      <p:sp>
        <p:nvSpPr>
          <p:cNvPr id="1276539391" name="Text 5"/>
          <p:cNvSpPr/>
          <p:nvPr/>
        </p:nvSpPr>
        <p:spPr bwMode="auto">
          <a:xfrm>
            <a:off x="841248" y="1828800"/>
            <a:ext cx="33284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Multi-turn chat required careful handling of history because some frameworks return structured content, not plain strings.</a:t>
            </a:r>
            <a:endParaRPr lang="en-US" sz="1300"/>
          </a:p>
        </p:txBody>
      </p:sp>
      <p:sp>
        <p:nvSpPr>
          <p:cNvPr id="1567100224" name="Shape 6"/>
          <p:cNvSpPr/>
          <p:nvPr/>
        </p:nvSpPr>
        <p:spPr bwMode="auto">
          <a:xfrm>
            <a:off x="4480560" y="141732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69650877" name="Shape 7"/>
          <p:cNvSpPr/>
          <p:nvPr/>
        </p:nvSpPr>
        <p:spPr bwMode="auto">
          <a:xfrm>
            <a:off x="4498848" y="1435608"/>
            <a:ext cx="54864" cy="1426464"/>
          </a:xfrm>
          <a:prstGeom prst="rect">
            <a:avLst/>
          </a:prstGeom>
          <a:solidFill>
            <a:srgbClr val="27D17F"/>
          </a:solidFill>
          <a:ln w="12700">
            <a:solidFill>
              <a:srgbClr val="27D17F"/>
            </a:solidFill>
            <a:prstDash val="solid"/>
          </a:ln>
        </p:spPr>
      </p:sp>
      <p:sp>
        <p:nvSpPr>
          <p:cNvPr id="1608178669" name="Text 8"/>
          <p:cNvSpPr/>
          <p:nvPr/>
        </p:nvSpPr>
        <p:spPr bwMode="auto">
          <a:xfrm>
            <a:off x="4681728" y="15544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Provider abstraction</a:t>
            </a:r>
            <a:endParaRPr lang="en-US" sz="1800"/>
          </a:p>
        </p:txBody>
      </p:sp>
      <p:sp>
        <p:nvSpPr>
          <p:cNvPr id="1622196928" name="Text 9"/>
          <p:cNvSpPr/>
          <p:nvPr/>
        </p:nvSpPr>
        <p:spPr bwMode="auto">
          <a:xfrm>
            <a:off x="4681728" y="1828800"/>
            <a:ext cx="33284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A shared interface reduces UI complexity while hiding differences between local Ollama and hosted APIs.</a:t>
            </a:r>
            <a:endParaRPr lang="en-US" sz="1300"/>
          </a:p>
        </p:txBody>
      </p:sp>
      <p:sp>
        <p:nvSpPr>
          <p:cNvPr id="666631768" name="Shape 10"/>
          <p:cNvSpPr/>
          <p:nvPr/>
        </p:nvSpPr>
        <p:spPr bwMode="auto">
          <a:xfrm>
            <a:off x="8321039" y="1417320"/>
            <a:ext cx="3246120" cy="1463040"/>
          </a:xfrm>
          <a:prstGeom prst="roundRect">
            <a:avLst>
              <a:gd name="adj" fmla="val 7500"/>
            </a:avLst>
          </a:prstGeom>
          <a:solidFill>
            <a:srgbClr val="101D35"/>
          </a:solidFill>
          <a:ln w="12700">
            <a:solidFill>
              <a:srgbClr val="243656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84098215" name="Shape 11"/>
          <p:cNvSpPr/>
          <p:nvPr/>
        </p:nvSpPr>
        <p:spPr bwMode="auto">
          <a:xfrm>
            <a:off x="8339328" y="1435608"/>
            <a:ext cx="54864" cy="1426464"/>
          </a:xfrm>
          <a:prstGeom prst="rect">
            <a:avLst/>
          </a:prstGeom>
          <a:solidFill>
            <a:srgbClr val="36D6D2"/>
          </a:solidFill>
          <a:ln w="12700">
            <a:solidFill>
              <a:srgbClr val="36D6D2"/>
            </a:solidFill>
            <a:prstDash val="solid"/>
          </a:ln>
        </p:spPr>
      </p:sp>
      <p:sp>
        <p:nvSpPr>
          <p:cNvPr id="94544546" name="Text 12"/>
          <p:cNvSpPr/>
          <p:nvPr/>
        </p:nvSpPr>
        <p:spPr bwMode="auto">
          <a:xfrm>
            <a:off x="8522208" y="15544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</a:rPr>
              <a:t>Streaming status</a:t>
            </a:r>
            <a:endParaRPr lang="en-US" sz="1800"/>
          </a:p>
        </p:txBody>
      </p:sp>
      <p:sp>
        <p:nvSpPr>
          <p:cNvPr id="2118754348" name="Text 13"/>
          <p:cNvSpPr/>
          <p:nvPr/>
        </p:nvSpPr>
        <p:spPr bwMode="auto">
          <a:xfrm>
            <a:off x="8522208" y="1828800"/>
            <a:ext cx="291693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A8B9D6"/>
                </a:solidFill>
              </a:rPr>
              <a:t>Animated states provide user feedback during long requests and file-heavy prompts.</a:t>
            </a:r>
            <a:endParaRPr lang="en-US" sz="1300"/>
          </a:p>
        </p:txBody>
      </p:sp>
      <p:sp>
        <p:nvSpPr>
          <p:cNvPr id="798125317" name="Shape 14"/>
          <p:cNvSpPr/>
          <p:nvPr/>
        </p:nvSpPr>
        <p:spPr bwMode="auto">
          <a:xfrm>
            <a:off x="640080" y="3246120"/>
            <a:ext cx="10927079" cy="1965960"/>
          </a:xfrm>
          <a:prstGeom prst="roundRect">
            <a:avLst>
              <a:gd name="adj" fmla="val 5581"/>
            </a:avLst>
          </a:prstGeom>
          <a:solidFill>
            <a:srgbClr val="0D1A30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737204694" name="Text 15"/>
          <p:cNvSpPr/>
          <p:nvPr/>
        </p:nvSpPr>
        <p:spPr bwMode="auto">
          <a:xfrm>
            <a:off x="914400" y="3493008"/>
            <a:ext cx="10058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Gradio version differences required iterative fixes for callback signatures and component configuration.</a:t>
            </a:r>
            <a:endParaRPr lang="en-US" sz="1700"/>
          </a:p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Ollama multi-turn support needed history sanitization to avoid malformed message sequences.</a:t>
            </a:r>
            <a:endParaRPr lang="en-US" sz="1700"/>
          </a:p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The app balances a compact surface area with access to advanced model controls.</a:t>
            </a:r>
            <a:endParaRPr lang="en-US" sz="1700"/>
          </a:p>
          <a:p>
            <a:pPr marL="177800" indent="-177800">
              <a:buSzPct val="100000"/>
              <a:buChar char="•"/>
              <a:defRPr/>
            </a:pPr>
            <a:r>
              <a:rPr lang="en-US" sz="1700">
                <a:solidFill>
                  <a:srgbClr val="EAF2FF"/>
                </a:solidFill>
              </a:rPr>
              <a:t>Packaging README and requirements makes the project easier to run, share, and extend.</a:t>
            </a:r>
            <a:endParaRPr lang="en-US" sz="1700"/>
          </a:p>
        </p:txBody>
      </p:sp>
      <p:sp>
        <p:nvSpPr>
          <p:cNvPr id="199673983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158143" name="Text 0"/>
          <p:cNvSpPr/>
          <p:nvPr/>
        </p:nvSpPr>
        <p:spPr bwMode="auto">
          <a:xfrm>
            <a:off x="640080" y="4389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Next steps</a:t>
            </a:r>
            <a:endParaRPr lang="en-US" sz="2800"/>
          </a:p>
        </p:txBody>
      </p:sp>
      <p:sp>
        <p:nvSpPr>
          <p:cNvPr id="1172842735" name="Text 1"/>
          <p:cNvSpPr/>
          <p:nvPr/>
        </p:nvSpPr>
        <p:spPr bwMode="auto">
          <a:xfrm>
            <a:off x="640080" y="96926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8B9D6"/>
                </a:solidFill>
              </a:rPr>
              <a:t>How this project can continue to improve</a:t>
            </a:r>
            <a:endParaRPr lang="en-US" sz="1200"/>
          </a:p>
        </p:txBody>
      </p:sp>
      <p:sp>
        <p:nvSpPr>
          <p:cNvPr id="1088143602" name="Shape 2"/>
          <p:cNvSpPr/>
          <p:nvPr/>
        </p:nvSpPr>
        <p:spPr bwMode="auto">
          <a:xfrm>
            <a:off x="868680" y="1435608"/>
            <a:ext cx="384048" cy="384048"/>
          </a:xfrm>
          <a:prstGeom prst="ellipse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2067079792" name="Text 3"/>
          <p:cNvSpPr/>
          <p:nvPr/>
        </p:nvSpPr>
        <p:spPr bwMode="auto">
          <a:xfrm>
            <a:off x="960120" y="1490472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1217056312" name="Text 4"/>
          <p:cNvSpPr/>
          <p:nvPr/>
        </p:nvSpPr>
        <p:spPr bwMode="auto">
          <a:xfrm>
            <a:off x="1463040" y="14173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EAF2FF"/>
                </a:solidFill>
              </a:rPr>
              <a:t>Native multimodal flow</a:t>
            </a:r>
            <a:endParaRPr lang="en-US" sz="1700"/>
          </a:p>
        </p:txBody>
      </p:sp>
      <p:sp>
        <p:nvSpPr>
          <p:cNvPr id="2046558318" name="Text 5"/>
          <p:cNvSpPr/>
          <p:nvPr/>
        </p:nvSpPr>
        <p:spPr bwMode="auto">
          <a:xfrm>
            <a:off x="3977640" y="1417320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A8B9D6"/>
                </a:solidFill>
              </a:rPr>
              <a:t>Use direct image/PDF handling per provider where supported.</a:t>
            </a:r>
            <a:endParaRPr lang="en-US" sz="1400"/>
          </a:p>
        </p:txBody>
      </p:sp>
      <p:sp>
        <p:nvSpPr>
          <p:cNvPr id="960379478" name="Shape 6"/>
          <p:cNvSpPr/>
          <p:nvPr/>
        </p:nvSpPr>
        <p:spPr bwMode="auto">
          <a:xfrm>
            <a:off x="1060704" y="1810512"/>
            <a:ext cx="0" cy="448056"/>
          </a:xfrm>
          <a:prstGeom prst="line">
            <a:avLst/>
          </a:prstGeom>
          <a:noFill/>
          <a:ln w="12700">
            <a:solidFill>
              <a:srgbClr val="4D5F84"/>
            </a:solidFill>
            <a:prstDash val="solid"/>
          </a:ln>
        </p:spPr>
      </p:sp>
      <p:sp>
        <p:nvSpPr>
          <p:cNvPr id="1435447354" name="Shape 7"/>
          <p:cNvSpPr/>
          <p:nvPr/>
        </p:nvSpPr>
        <p:spPr bwMode="auto">
          <a:xfrm>
            <a:off x="868680" y="2276856"/>
            <a:ext cx="384048" cy="384048"/>
          </a:xfrm>
          <a:prstGeom prst="ellipse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953998168" name="Text 8"/>
          <p:cNvSpPr/>
          <p:nvPr/>
        </p:nvSpPr>
        <p:spPr bwMode="auto">
          <a:xfrm>
            <a:off x="960120" y="2331720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459468091" name="Text 9"/>
          <p:cNvSpPr/>
          <p:nvPr/>
        </p:nvSpPr>
        <p:spPr bwMode="auto">
          <a:xfrm>
            <a:off x="1463040" y="22585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EAF2FF"/>
                </a:solidFill>
              </a:rPr>
              <a:t>Better model picker</a:t>
            </a:r>
            <a:endParaRPr lang="en-US" sz="1700"/>
          </a:p>
        </p:txBody>
      </p:sp>
      <p:sp>
        <p:nvSpPr>
          <p:cNvPr id="21601748" name="Text 10"/>
          <p:cNvSpPr/>
          <p:nvPr/>
        </p:nvSpPr>
        <p:spPr bwMode="auto">
          <a:xfrm>
            <a:off x="3977640" y="2258568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A8B9D6"/>
                </a:solidFill>
              </a:rPr>
              <a:t>Add a cleaner dropdown-first experience with optional custom override.</a:t>
            </a:r>
            <a:endParaRPr lang="en-US" sz="1400"/>
          </a:p>
        </p:txBody>
      </p:sp>
      <p:sp>
        <p:nvSpPr>
          <p:cNvPr id="849480513" name="Shape 11"/>
          <p:cNvSpPr/>
          <p:nvPr/>
        </p:nvSpPr>
        <p:spPr bwMode="auto">
          <a:xfrm>
            <a:off x="1060704" y="2651760"/>
            <a:ext cx="0" cy="448056"/>
          </a:xfrm>
          <a:prstGeom prst="line">
            <a:avLst/>
          </a:prstGeom>
          <a:noFill/>
          <a:ln w="12700">
            <a:solidFill>
              <a:srgbClr val="4D5F84"/>
            </a:solidFill>
            <a:prstDash val="solid"/>
          </a:ln>
        </p:spPr>
      </p:sp>
      <p:sp>
        <p:nvSpPr>
          <p:cNvPr id="565392005" name="Shape 12"/>
          <p:cNvSpPr/>
          <p:nvPr/>
        </p:nvSpPr>
        <p:spPr bwMode="auto">
          <a:xfrm>
            <a:off x="868680" y="3118104"/>
            <a:ext cx="384048" cy="384048"/>
          </a:xfrm>
          <a:prstGeom prst="ellipse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218199930" name="Text 13"/>
          <p:cNvSpPr/>
          <p:nvPr/>
        </p:nvSpPr>
        <p:spPr bwMode="auto">
          <a:xfrm>
            <a:off x="960120" y="3172968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769643425" name="Text 14"/>
          <p:cNvSpPr/>
          <p:nvPr/>
        </p:nvSpPr>
        <p:spPr bwMode="auto">
          <a:xfrm>
            <a:off x="1463040" y="30998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EAF2FF"/>
                </a:solidFill>
              </a:rPr>
              <a:t>Chat UX polish</a:t>
            </a:r>
            <a:endParaRPr lang="en-US" sz="1700"/>
          </a:p>
        </p:txBody>
      </p:sp>
      <p:sp>
        <p:nvSpPr>
          <p:cNvPr id="2073869658" name="Text 15"/>
          <p:cNvSpPr/>
          <p:nvPr/>
        </p:nvSpPr>
        <p:spPr bwMode="auto">
          <a:xfrm>
            <a:off x="3977640" y="3099816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A8B9D6"/>
                </a:solidFill>
              </a:rPr>
              <a:t>Enter-to-send, Shift+Enter newline, retry/edit flows, and better message actions.</a:t>
            </a:r>
            <a:endParaRPr lang="en-US" sz="1400"/>
          </a:p>
        </p:txBody>
      </p:sp>
      <p:sp>
        <p:nvSpPr>
          <p:cNvPr id="1448163616" name="Shape 16"/>
          <p:cNvSpPr/>
          <p:nvPr/>
        </p:nvSpPr>
        <p:spPr bwMode="auto">
          <a:xfrm>
            <a:off x="1060704" y="3493008"/>
            <a:ext cx="0" cy="448056"/>
          </a:xfrm>
          <a:prstGeom prst="line">
            <a:avLst/>
          </a:prstGeom>
          <a:noFill/>
          <a:ln w="12700">
            <a:solidFill>
              <a:srgbClr val="4D5F84"/>
            </a:solidFill>
            <a:prstDash val="solid"/>
          </a:ln>
        </p:spPr>
      </p:sp>
      <p:sp>
        <p:nvSpPr>
          <p:cNvPr id="517025192" name="Shape 17"/>
          <p:cNvSpPr/>
          <p:nvPr/>
        </p:nvSpPr>
        <p:spPr bwMode="auto">
          <a:xfrm>
            <a:off x="868680" y="3959352"/>
            <a:ext cx="384048" cy="384048"/>
          </a:xfrm>
          <a:prstGeom prst="ellipse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578664790" name="Text 18"/>
          <p:cNvSpPr/>
          <p:nvPr/>
        </p:nvSpPr>
        <p:spPr bwMode="auto">
          <a:xfrm>
            <a:off x="960120" y="4014216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1533535432" name="Text 19"/>
          <p:cNvSpPr/>
          <p:nvPr/>
        </p:nvSpPr>
        <p:spPr bwMode="auto">
          <a:xfrm>
            <a:off x="1463040" y="39410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EAF2FF"/>
                </a:solidFill>
              </a:rPr>
              <a:t>RAG upgrade</a:t>
            </a:r>
            <a:endParaRPr lang="en-US" sz="1700"/>
          </a:p>
        </p:txBody>
      </p:sp>
      <p:sp>
        <p:nvSpPr>
          <p:cNvPr id="719538050" name="Text 20"/>
          <p:cNvSpPr/>
          <p:nvPr/>
        </p:nvSpPr>
        <p:spPr bwMode="auto">
          <a:xfrm>
            <a:off x="3977640" y="3941064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A8B9D6"/>
                </a:solidFill>
              </a:rPr>
              <a:t>Replace simple file injection with chunking, embeddings, and retrieval scoring.</a:t>
            </a:r>
            <a:endParaRPr lang="en-US" sz="1400"/>
          </a:p>
        </p:txBody>
      </p:sp>
      <p:sp>
        <p:nvSpPr>
          <p:cNvPr id="1383467614" name="Shape 21"/>
          <p:cNvSpPr/>
          <p:nvPr/>
        </p:nvSpPr>
        <p:spPr bwMode="auto">
          <a:xfrm>
            <a:off x="1060704" y="4334256"/>
            <a:ext cx="0" cy="448056"/>
          </a:xfrm>
          <a:prstGeom prst="line">
            <a:avLst/>
          </a:prstGeom>
          <a:noFill/>
          <a:ln w="12700">
            <a:solidFill>
              <a:srgbClr val="4D5F84"/>
            </a:solidFill>
            <a:prstDash val="solid"/>
          </a:ln>
        </p:spPr>
      </p:sp>
      <p:sp>
        <p:nvSpPr>
          <p:cNvPr id="2022099979" name="Shape 22"/>
          <p:cNvSpPr/>
          <p:nvPr/>
        </p:nvSpPr>
        <p:spPr bwMode="auto">
          <a:xfrm>
            <a:off x="868680" y="4800600"/>
            <a:ext cx="384048" cy="384048"/>
          </a:xfrm>
          <a:prstGeom prst="ellipse">
            <a:avLst/>
          </a:prstGeom>
          <a:solidFill>
            <a:srgbClr val="6D5EF9"/>
          </a:solidFill>
          <a:ln w="12700">
            <a:solidFill>
              <a:srgbClr val="6D5EF9"/>
            </a:solidFill>
            <a:prstDash val="solid"/>
          </a:ln>
        </p:spPr>
      </p:sp>
      <p:sp>
        <p:nvSpPr>
          <p:cNvPr id="1408767105" name="Text 23"/>
          <p:cNvSpPr/>
          <p:nvPr/>
        </p:nvSpPr>
        <p:spPr bwMode="auto">
          <a:xfrm>
            <a:off x="960120" y="4855464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559419573" name="Text 24"/>
          <p:cNvSpPr/>
          <p:nvPr/>
        </p:nvSpPr>
        <p:spPr bwMode="auto">
          <a:xfrm>
            <a:off x="1463040" y="478231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EAF2FF"/>
                </a:solidFill>
              </a:rPr>
              <a:t>Observability</a:t>
            </a:r>
            <a:endParaRPr lang="en-US" sz="1700"/>
          </a:p>
        </p:txBody>
      </p:sp>
      <p:sp>
        <p:nvSpPr>
          <p:cNvPr id="2103144989" name="Text 25"/>
          <p:cNvSpPr/>
          <p:nvPr/>
        </p:nvSpPr>
        <p:spPr bwMode="auto">
          <a:xfrm>
            <a:off x="3977640" y="4782312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A8B9D6"/>
                </a:solidFill>
              </a:rPr>
              <a:t>Show token usage, latency trends, and provider-specific response metadata.</a:t>
            </a:r>
            <a:endParaRPr lang="en-US" sz="1400"/>
          </a:p>
        </p:txBody>
      </p:sp>
      <p:sp>
        <p:nvSpPr>
          <p:cNvPr id="1348006628" name="Text 26"/>
          <p:cNvSpPr/>
          <p:nvPr/>
        </p:nvSpPr>
        <p:spPr bwMode="auto">
          <a:xfrm>
            <a:off x="8823960" y="5532120"/>
            <a:ext cx="1234440" cy="256032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Local + hosted</a:t>
            </a:r>
            <a:endParaRPr lang="en-US" sz="1100"/>
          </a:p>
        </p:txBody>
      </p:sp>
      <p:sp>
        <p:nvSpPr>
          <p:cNvPr id="141869630" name="Text 27"/>
          <p:cNvSpPr/>
          <p:nvPr/>
        </p:nvSpPr>
        <p:spPr bwMode="auto">
          <a:xfrm>
            <a:off x="10149840" y="5532120"/>
            <a:ext cx="1097280" cy="256032"/>
          </a:xfrm>
          <a:prstGeom prst="rect">
            <a:avLst/>
          </a:prstGeom>
          <a:solidFill>
            <a:srgbClr val="36D6D2"/>
          </a:solidFill>
          <a:ln>
            <a:solidFill>
              <a:srgbClr val="36D6D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Iterative build</a:t>
            </a:r>
            <a:endParaRPr lang="en-US" sz="1100"/>
          </a:p>
        </p:txBody>
      </p:sp>
      <p:sp>
        <p:nvSpPr>
          <p:cNvPr id="160620806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638544"/>
            <a:ext cx="411480" cy="14630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8D8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5293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3363574" cy="8162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538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82474" cy="7734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79327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82474" cy="7734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9964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211049" cy="788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15935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606" y="281214"/>
            <a:ext cx="11430928" cy="6114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9188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399142"/>
            <a:ext cx="10086975" cy="7192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Multi-Provider Gradio Chat Pro</dc:title>
  <dc:subject>Project presentation</dc:subject>
  <dc:creator>OpenAI</dc:creator>
  <cp:lastModifiedBy/>
  <cp:revision>2</cp:revision>
  <dcterms:created xsi:type="dcterms:W3CDTF">2026-04-02T17:31:25Z</dcterms:created>
  <dcterms:modified xsi:type="dcterms:W3CDTF">2026-04-04T15:39:17Z</dcterms:modified>
</cp:coreProperties>
</file>