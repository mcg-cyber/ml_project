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4777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0835784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4243336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5430979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301416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8659442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482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3526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0828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1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264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521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50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559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047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955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4649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5708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120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3891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0138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4362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6281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5780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990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0506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6630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4F0616-29E4-426C-37A2-C9341A945B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95DD27-1C6F-9419-4924-3ED666DF69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6D26B-86F3-DED4-73D8-2798C0CA60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97F22-65E7-6F6F-20D5-AC409608BD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5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638407" name="Shape 0"/>
          <p:cNvSpPr/>
          <p:nvPr/>
        </p:nvSpPr>
        <p:spPr bwMode="auto">
          <a:xfrm>
            <a:off x="594360" y="731520"/>
            <a:ext cx="10972800" cy="5212080"/>
          </a:xfrm>
          <a:prstGeom prst="roundRect">
            <a:avLst>
              <a:gd name="adj" fmla="val 1404"/>
            </a:avLst>
          </a:prstGeom>
          <a:solidFill>
            <a:srgbClr val="EEF4FF"/>
          </a:solidFill>
          <a:ln w="12700">
            <a:solidFill>
              <a:srgbClr val="D8E4FF"/>
            </a:solidFill>
            <a:prstDash val="solid"/>
          </a:ln>
        </p:spPr>
      </p:sp>
      <p:sp>
        <p:nvSpPr>
          <p:cNvPr id="853649037" name="Shape 1"/>
          <p:cNvSpPr/>
          <p:nvPr/>
        </p:nvSpPr>
        <p:spPr bwMode="auto">
          <a:xfrm>
            <a:off x="7955280" y="1097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54238099" name="Text 2"/>
          <p:cNvSpPr/>
          <p:nvPr/>
        </p:nvSpPr>
        <p:spPr bwMode="auto">
          <a:xfrm>
            <a:off x="8183880" y="1371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900" b="1">
                <a:solidFill>
                  <a:srgbClr val="FFFFFF"/>
                </a:solidFill>
              </a:rPr>
              <a:t>Script Analysis</a:t>
            </a:r>
            <a:endParaRPr lang="en-US" sz="1900"/>
          </a:p>
        </p:txBody>
      </p:sp>
      <p:sp>
        <p:nvSpPr>
          <p:cNvPr id="717287347" name="Text 3"/>
          <p:cNvSpPr/>
          <p:nvPr/>
        </p:nvSpPr>
        <p:spPr bwMode="auto">
          <a:xfrm>
            <a:off x="914400" y="14173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Ollama Rocket WebTools v9</a:t>
            </a:r>
            <a:endParaRPr lang="en-US" sz="2800"/>
          </a:p>
        </p:txBody>
      </p:sp>
      <p:sp>
        <p:nvSpPr>
          <p:cNvPr id="55321938" name="Text 4"/>
          <p:cNvSpPr/>
          <p:nvPr/>
        </p:nvSpPr>
        <p:spPr bwMode="auto">
          <a:xfrm>
            <a:off x="914400" y="22402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937"/>
                </a:solidFill>
              </a:rPr>
              <a:t>Feature inventory, architecture view, command map, and implementation risks extracted from the uploaded Python CLI script.</a:t>
            </a:r>
            <a:endParaRPr lang="en-US" sz="1800"/>
          </a:p>
        </p:txBody>
      </p:sp>
      <p:sp>
        <p:nvSpPr>
          <p:cNvPr id="653985654" name="Shape 5"/>
          <p:cNvSpPr/>
          <p:nvPr/>
        </p:nvSpPr>
        <p:spPr bwMode="auto">
          <a:xfrm>
            <a:off x="914400" y="32461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87814984" name="Text 6"/>
          <p:cNvSpPr/>
          <p:nvPr/>
        </p:nvSpPr>
        <p:spPr bwMode="auto">
          <a:xfrm>
            <a:off x="987552" y="3296411"/>
            <a:ext cx="1179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</a:rPr>
              <a:t>Local Ollama</a:t>
            </a:r>
            <a:endParaRPr lang="en-US" sz="1050"/>
          </a:p>
        </p:txBody>
      </p:sp>
      <p:sp>
        <p:nvSpPr>
          <p:cNvPr id="1360862518" name="Shape 7"/>
          <p:cNvSpPr/>
          <p:nvPr/>
        </p:nvSpPr>
        <p:spPr bwMode="auto">
          <a:xfrm>
            <a:off x="2331720" y="3246120"/>
            <a:ext cx="1508759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9706310" name="Text 8"/>
          <p:cNvSpPr/>
          <p:nvPr/>
        </p:nvSpPr>
        <p:spPr bwMode="auto">
          <a:xfrm>
            <a:off x="2404872" y="3296411"/>
            <a:ext cx="13624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</a:rPr>
              <a:t>Web-assisted</a:t>
            </a:r>
            <a:endParaRPr lang="en-US" sz="1050"/>
          </a:p>
        </p:txBody>
      </p:sp>
      <p:sp>
        <p:nvSpPr>
          <p:cNvPr id="1277276638" name="Shape 9"/>
          <p:cNvSpPr/>
          <p:nvPr/>
        </p:nvSpPr>
        <p:spPr bwMode="auto">
          <a:xfrm>
            <a:off x="3977640" y="32461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86766688" name="Text 10"/>
          <p:cNvSpPr/>
          <p:nvPr/>
        </p:nvSpPr>
        <p:spPr bwMode="auto">
          <a:xfrm>
            <a:off x="4050792" y="3296411"/>
            <a:ext cx="1179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</a:rPr>
              <a:t>Security</a:t>
            </a:r>
            <a:endParaRPr lang="en-US" sz="1050"/>
          </a:p>
        </p:txBody>
      </p:sp>
      <p:sp>
        <p:nvSpPr>
          <p:cNvPr id="978523765" name="Shape 11"/>
          <p:cNvSpPr/>
          <p:nvPr/>
        </p:nvSpPr>
        <p:spPr bwMode="auto">
          <a:xfrm>
            <a:off x="5440680" y="32461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74856317" name="Text 12"/>
          <p:cNvSpPr/>
          <p:nvPr/>
        </p:nvSpPr>
        <p:spPr bwMode="auto">
          <a:xfrm>
            <a:off x="5513832" y="3296411"/>
            <a:ext cx="1453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</a:rPr>
              <a:t>Multi-model</a:t>
            </a:r>
            <a:endParaRPr lang="en-US" sz="1050"/>
          </a:p>
        </p:txBody>
      </p:sp>
      <p:sp>
        <p:nvSpPr>
          <p:cNvPr id="162030922" name="Text 13"/>
          <p:cNvSpPr/>
          <p:nvPr/>
        </p:nvSpPr>
        <p:spPr bwMode="auto">
          <a:xfrm>
            <a:off x="914400" y="3977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Key finding: the script is a feature-rich local AI command center, but several commands appear unfinished or fragile.</a:t>
            </a:r>
            <a:endParaRPr lang="en-US" sz="1600"/>
          </a:p>
        </p:txBody>
      </p:sp>
      <p:sp>
        <p:nvSpPr>
          <p:cNvPr id="896716807" name="Shape 14"/>
          <p:cNvSpPr/>
          <p:nvPr/>
        </p:nvSpPr>
        <p:spPr bwMode="auto">
          <a:xfrm>
            <a:off x="7772400" y="2560320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11069291" name="Text 15"/>
          <p:cNvSpPr/>
          <p:nvPr/>
        </p:nvSpPr>
        <p:spPr bwMode="auto">
          <a:xfrm>
            <a:off x="8046720" y="276148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Core stack</a:t>
            </a:r>
            <a:endParaRPr lang="en-US" sz="1500"/>
          </a:p>
        </p:txBody>
      </p:sp>
      <p:sp>
        <p:nvSpPr>
          <p:cNvPr id="72777714" name="Text 16"/>
          <p:cNvSpPr/>
          <p:nvPr/>
        </p:nvSpPr>
        <p:spPr bwMode="auto">
          <a:xfrm>
            <a:off x="8046720" y="309067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F2937"/>
                </a:solidFill>
              </a:rPr>
              <a:t>Ollama client</a:t>
            </a:r>
            <a:br>
              <a:rPr lang="en-US" sz="1400">
                <a:solidFill>
                  <a:srgbClr val="1F2937"/>
                </a:solidFill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F2937"/>
                </a:solidFill>
              </a:rPr>
              <a:t>Requests + BS4</a:t>
            </a:r>
            <a:br>
              <a:rPr lang="en-US" sz="1400">
                <a:solidFill>
                  <a:srgbClr val="1F2937"/>
                </a:solidFill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F2937"/>
                </a:solidFill>
              </a:rPr>
              <a:t>PyPDF2 / docx / pptx / xlsx</a:t>
            </a:r>
            <a:br>
              <a:rPr lang="en-US" sz="1400">
                <a:solidFill>
                  <a:srgbClr val="1F2937"/>
                </a:solidFill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F2937"/>
                </a:solidFill>
              </a:rPr>
              <a:t>Matplotlib / Pandoc / speech tools</a:t>
            </a:r>
            <a:endParaRPr lang="en-US" sz="1400"/>
          </a:p>
        </p:txBody>
      </p:sp>
      <p:sp>
        <p:nvSpPr>
          <p:cNvPr id="623991996" name="Text 17"/>
          <p:cNvSpPr/>
          <p:nvPr/>
        </p:nvSpPr>
        <p:spPr bwMode="auto">
          <a:xfrm>
            <a:off x="731520" y="61722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</a:rPr>
              <a:t>Prepared from: ollama_rocket_webtools_v9.py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5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984015" name="Text 0"/>
          <p:cNvSpPr/>
          <p:nvPr/>
        </p:nvSpPr>
        <p:spPr bwMode="auto">
          <a:xfrm>
            <a:off x="54864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How the script is structured</a:t>
            </a:r>
            <a:endParaRPr lang="en-US" sz="2700"/>
          </a:p>
        </p:txBody>
      </p:sp>
      <p:sp>
        <p:nvSpPr>
          <p:cNvPr id="1496478056" name="Text 1"/>
          <p:cNvSpPr/>
          <p:nvPr/>
        </p:nvSpPr>
        <p:spPr bwMode="auto">
          <a:xfrm>
            <a:off x="548640" y="7498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Interactive CLI loop with command routing, model invocation, optional web tooling, and export utilities.</a:t>
            </a:r>
            <a:endParaRPr lang="en-US" sz="1100"/>
          </a:p>
        </p:txBody>
      </p:sp>
      <p:sp>
        <p:nvSpPr>
          <p:cNvPr id="1760981605" name="Shape 2"/>
          <p:cNvSpPr/>
          <p:nvPr/>
        </p:nvSpPr>
        <p:spPr bwMode="auto"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1459584995" name="Shape 3"/>
          <p:cNvSpPr/>
          <p:nvPr/>
        </p:nvSpPr>
        <p:spPr bwMode="auto">
          <a:xfrm>
            <a:off x="2395728" y="2468880"/>
            <a:ext cx="301752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  <a:headEnd type="none"/>
            <a:tailEnd type="triangle"/>
          </a:ln>
        </p:spPr>
      </p:sp>
      <p:sp>
        <p:nvSpPr>
          <p:cNvPr id="1854448983" name="Shape 4"/>
          <p:cNvSpPr/>
          <p:nvPr/>
        </p:nvSpPr>
        <p:spPr bwMode="auto">
          <a:xfrm>
            <a:off x="4681728" y="2468880"/>
            <a:ext cx="347472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  <a:headEnd type="none"/>
            <a:tailEnd type="triangle"/>
          </a:ln>
        </p:spPr>
      </p:sp>
      <p:sp>
        <p:nvSpPr>
          <p:cNvPr id="678920464" name="Shape 5"/>
          <p:cNvSpPr/>
          <p:nvPr/>
        </p:nvSpPr>
        <p:spPr bwMode="auto">
          <a:xfrm>
            <a:off x="7150607" y="2468880"/>
            <a:ext cx="438912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  <a:headEnd type="none"/>
            <a:tailEnd type="triangle"/>
          </a:ln>
        </p:spPr>
      </p:sp>
      <p:sp>
        <p:nvSpPr>
          <p:cNvPr id="531049008" name="Shape 6"/>
          <p:cNvSpPr/>
          <p:nvPr/>
        </p:nvSpPr>
        <p:spPr bwMode="auto">
          <a:xfrm>
            <a:off x="822960" y="1645920"/>
            <a:ext cx="1554480" cy="1645920"/>
          </a:xfrm>
          <a:prstGeom prst="roundRect">
            <a:avLst>
              <a:gd name="adj" fmla="val 3529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78403102" name="Text 7"/>
          <p:cNvSpPr/>
          <p:nvPr/>
        </p:nvSpPr>
        <p:spPr bwMode="auto">
          <a:xfrm>
            <a:off x="969264" y="1773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Input layer</a:t>
            </a:r>
            <a:endParaRPr lang="en-US" sz="1600"/>
          </a:p>
        </p:txBody>
      </p:sp>
      <p:sp>
        <p:nvSpPr>
          <p:cNvPr id="262326236" name="Text 8"/>
          <p:cNvSpPr/>
          <p:nvPr/>
        </p:nvSpPr>
        <p:spPr bwMode="auto">
          <a:xfrm>
            <a:off x="987552" y="2084832"/>
            <a:ext cx="1261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typed prompts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slash commands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voice input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file paths</a:t>
            </a:r>
            <a:endParaRPr lang="en-US" sz="1200"/>
          </a:p>
        </p:txBody>
      </p:sp>
      <p:sp>
        <p:nvSpPr>
          <p:cNvPr id="1140469631" name="Shape 9"/>
          <p:cNvSpPr/>
          <p:nvPr/>
        </p:nvSpPr>
        <p:spPr bwMode="auto">
          <a:xfrm>
            <a:off x="2743200" y="164592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90055575" name="Text 10"/>
          <p:cNvSpPr/>
          <p:nvPr/>
        </p:nvSpPr>
        <p:spPr bwMode="auto">
          <a:xfrm>
            <a:off x="2889504" y="17739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Command router</a:t>
            </a:r>
            <a:endParaRPr lang="en-US" sz="1600"/>
          </a:p>
        </p:txBody>
      </p:sp>
      <p:sp>
        <p:nvSpPr>
          <p:cNvPr id="895449683" name="Text 11"/>
          <p:cNvSpPr/>
          <p:nvPr/>
        </p:nvSpPr>
        <p:spPr bwMode="auto">
          <a:xfrm>
            <a:off x="2907792" y="2084832"/>
            <a:ext cx="1627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main loop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if/elif command handler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mode toggles</a:t>
            </a:r>
            <a:endParaRPr lang="en-US" sz="1200"/>
          </a:p>
        </p:txBody>
      </p:sp>
      <p:sp>
        <p:nvSpPr>
          <p:cNvPr id="540058981" name="Shape 12"/>
          <p:cNvSpPr/>
          <p:nvPr/>
        </p:nvSpPr>
        <p:spPr bwMode="auto">
          <a:xfrm>
            <a:off x="5212080" y="164592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EAF7E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25155481" name="Text 13"/>
          <p:cNvSpPr/>
          <p:nvPr/>
        </p:nvSpPr>
        <p:spPr bwMode="auto">
          <a:xfrm>
            <a:off x="5358384" y="17739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Reasoning layer</a:t>
            </a:r>
            <a:endParaRPr lang="en-US" sz="1600"/>
          </a:p>
        </p:txBody>
      </p:sp>
      <p:sp>
        <p:nvSpPr>
          <p:cNvPr id="1270090102" name="Text 14"/>
          <p:cNvSpPr/>
          <p:nvPr/>
        </p:nvSpPr>
        <p:spPr bwMode="auto">
          <a:xfrm>
            <a:off x="5376672" y="2084832"/>
            <a:ext cx="1627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ask_question()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ask_with_web_search()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multi-model tools</a:t>
            </a:r>
            <a:endParaRPr lang="en-US" sz="1200"/>
          </a:p>
        </p:txBody>
      </p:sp>
      <p:sp>
        <p:nvSpPr>
          <p:cNvPr id="1989291782" name="Shape 15"/>
          <p:cNvSpPr/>
          <p:nvPr/>
        </p:nvSpPr>
        <p:spPr bwMode="auto">
          <a:xfrm>
            <a:off x="7726680" y="164592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4022751" name="Text 16"/>
          <p:cNvSpPr/>
          <p:nvPr/>
        </p:nvSpPr>
        <p:spPr bwMode="auto">
          <a:xfrm>
            <a:off x="7872984" y="177393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Output layer</a:t>
            </a:r>
            <a:endParaRPr lang="en-US" sz="1600"/>
          </a:p>
        </p:txBody>
      </p:sp>
      <p:sp>
        <p:nvSpPr>
          <p:cNvPr id="675292332" name="Text 17"/>
          <p:cNvSpPr/>
          <p:nvPr/>
        </p:nvSpPr>
        <p:spPr bwMode="auto">
          <a:xfrm>
            <a:off x="7891272" y="2084832"/>
            <a:ext cx="32735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streamed answers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saved conversations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generated docs</a:t>
            </a:r>
            <a:endParaRPr lang="en-US" sz="1200"/>
          </a:p>
          <a:p>
            <a:pPr marL="127000" indent="-127000">
              <a:buSzPct val="100000"/>
              <a:buChar char="•"/>
              <a:defRPr/>
            </a:pPr>
            <a:r>
              <a:rPr lang="en-US" sz="1200">
                <a:solidFill>
                  <a:srgbClr val="1F2937"/>
                </a:solidFill>
              </a:rPr>
              <a:t>charts / reports</a:t>
            </a:r>
            <a:endParaRPr lang="en-US" sz="1200"/>
          </a:p>
        </p:txBody>
      </p:sp>
      <p:sp>
        <p:nvSpPr>
          <p:cNvPr id="463638213" name="Shape 18"/>
          <p:cNvSpPr/>
          <p:nvPr/>
        </p:nvSpPr>
        <p:spPr bwMode="auto">
          <a:xfrm>
            <a:off x="777240" y="38862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69856563" name="Shape 19"/>
          <p:cNvSpPr/>
          <p:nvPr/>
        </p:nvSpPr>
        <p:spPr bwMode="auto">
          <a:xfrm>
            <a:off x="777240" y="3886200"/>
            <a:ext cx="73152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58825452" name="Text 20"/>
          <p:cNvSpPr/>
          <p:nvPr/>
        </p:nvSpPr>
        <p:spPr bwMode="auto">
          <a:xfrm>
            <a:off x="960120" y="39959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State and configuration</a:t>
            </a:r>
            <a:endParaRPr lang="en-US" sz="1500"/>
          </a:p>
        </p:txBody>
      </p:sp>
      <p:sp>
        <p:nvSpPr>
          <p:cNvPr id="554183428" name="Text 21"/>
          <p:cNvSpPr/>
          <p:nvPr/>
        </p:nvSpPr>
        <p:spPr bwMode="auto">
          <a:xfrm>
            <a:off x="978408" y="4315968"/>
            <a:ext cx="3255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global settings for temperature, top_p, max_tokens, num_ctx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mode flags: webmode, verification, security mode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conversation persisted under ~/.ollama_ai_chat</a:t>
            </a:r>
            <a:endParaRPr lang="en-US" sz="1150"/>
          </a:p>
        </p:txBody>
      </p:sp>
      <p:sp>
        <p:nvSpPr>
          <p:cNvPr id="1489876397" name="Shape 22"/>
          <p:cNvSpPr/>
          <p:nvPr/>
        </p:nvSpPr>
        <p:spPr bwMode="auto">
          <a:xfrm>
            <a:off x="4526280" y="388620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0329384" name="Shape 23"/>
          <p:cNvSpPr/>
          <p:nvPr/>
        </p:nvSpPr>
        <p:spPr bwMode="auto">
          <a:xfrm>
            <a:off x="4526280" y="3886200"/>
            <a:ext cx="73152" cy="1737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55063101" name="Text 24"/>
          <p:cNvSpPr/>
          <p:nvPr/>
        </p:nvSpPr>
        <p:spPr bwMode="auto">
          <a:xfrm>
            <a:off x="4709160" y="39959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Web subsystem</a:t>
            </a:r>
            <a:endParaRPr lang="en-US" sz="1500"/>
          </a:p>
        </p:txBody>
      </p:sp>
      <p:sp>
        <p:nvSpPr>
          <p:cNvPr id="317852112" name="Text 25"/>
          <p:cNvSpPr/>
          <p:nvPr/>
        </p:nvSpPr>
        <p:spPr bwMode="auto">
          <a:xfrm>
            <a:off x="4727448" y="4315968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search backends: DuckDuckGo, SearXNG, Bing, Google CSE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page fetch + robots-aware crawl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last_web_search_summary cache</a:t>
            </a:r>
            <a:endParaRPr lang="en-US" sz="1150"/>
          </a:p>
        </p:txBody>
      </p:sp>
      <p:sp>
        <p:nvSpPr>
          <p:cNvPr id="82627786" name="Shape 26"/>
          <p:cNvSpPr/>
          <p:nvPr/>
        </p:nvSpPr>
        <p:spPr bwMode="auto">
          <a:xfrm>
            <a:off x="8092440" y="388620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81537249" name="Shape 27"/>
          <p:cNvSpPr/>
          <p:nvPr/>
        </p:nvSpPr>
        <p:spPr bwMode="auto">
          <a:xfrm>
            <a:off x="8092440" y="3886200"/>
            <a:ext cx="73152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0450296" name="Text 28"/>
          <p:cNvSpPr/>
          <p:nvPr/>
        </p:nvSpPr>
        <p:spPr bwMode="auto">
          <a:xfrm>
            <a:off x="8275320" y="399592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Document subsystem</a:t>
            </a:r>
            <a:endParaRPr lang="en-US" sz="1500"/>
          </a:p>
        </p:txBody>
      </p:sp>
      <p:sp>
        <p:nvSpPr>
          <p:cNvPr id="1754534620" name="Text 29"/>
          <p:cNvSpPr/>
          <p:nvPr/>
        </p:nvSpPr>
        <p:spPr bwMode="auto">
          <a:xfrm>
            <a:off x="8293607" y="4315968"/>
            <a:ext cx="29352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file upload parsing: pdf/docx/pptx/xlsx/images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export to pdf/docx/txt/md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chart rendering with matplotlib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5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089063" name="Text 0"/>
          <p:cNvSpPr/>
          <p:nvPr/>
        </p:nvSpPr>
        <p:spPr bwMode="auto">
          <a:xfrm>
            <a:off x="54864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Feature map by category</a:t>
            </a:r>
            <a:endParaRPr lang="en-US" sz="2700"/>
          </a:p>
        </p:txBody>
      </p:sp>
      <p:sp>
        <p:nvSpPr>
          <p:cNvPr id="1688636288" name="Text 1"/>
          <p:cNvSpPr/>
          <p:nvPr/>
        </p:nvSpPr>
        <p:spPr bwMode="auto">
          <a:xfrm>
            <a:off x="548640" y="7498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The script packs a wide command surface into one file.</a:t>
            </a:r>
            <a:endParaRPr lang="en-US" sz="1100"/>
          </a:p>
        </p:txBody>
      </p:sp>
      <p:sp>
        <p:nvSpPr>
          <p:cNvPr id="230230326" name="Shape 2"/>
          <p:cNvSpPr/>
          <p:nvPr/>
        </p:nvSpPr>
        <p:spPr bwMode="auto"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288909449" name="Shape 3"/>
          <p:cNvSpPr/>
          <p:nvPr/>
        </p:nvSpPr>
        <p:spPr bwMode="auto">
          <a:xfrm>
            <a:off x="685800" y="13258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36760546" name="Shape 4"/>
          <p:cNvSpPr/>
          <p:nvPr/>
        </p:nvSpPr>
        <p:spPr bwMode="auto">
          <a:xfrm>
            <a:off x="685800" y="132588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96032597" name="Text 5"/>
          <p:cNvSpPr/>
          <p:nvPr/>
        </p:nvSpPr>
        <p:spPr bwMode="auto">
          <a:xfrm>
            <a:off x="868680" y="14356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Chat and session controls</a:t>
            </a:r>
            <a:endParaRPr lang="en-US" sz="1500"/>
          </a:p>
        </p:txBody>
      </p:sp>
      <p:sp>
        <p:nvSpPr>
          <p:cNvPr id="254524856" name="Text 6"/>
          <p:cNvSpPr/>
          <p:nvPr/>
        </p:nvSpPr>
        <p:spPr bwMode="auto">
          <a:xfrm>
            <a:off x="886968" y="1755648"/>
            <a:ext cx="33467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/help, /clear, /models, /history, /delete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/export, /load, /new, /s, /t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/summary, /prompt, /ctx</a:t>
            </a:r>
            <a:endParaRPr lang="en-US" sz="1150"/>
          </a:p>
        </p:txBody>
      </p:sp>
      <p:sp>
        <p:nvSpPr>
          <p:cNvPr id="1145025579" name="Shape 7"/>
          <p:cNvSpPr/>
          <p:nvPr/>
        </p:nvSpPr>
        <p:spPr bwMode="auto">
          <a:xfrm>
            <a:off x="4526280" y="1325880"/>
            <a:ext cx="3429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04066324" name="Shape 8"/>
          <p:cNvSpPr/>
          <p:nvPr/>
        </p:nvSpPr>
        <p:spPr bwMode="auto">
          <a:xfrm>
            <a:off x="4526280" y="1325880"/>
            <a:ext cx="73152" cy="2148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03697831" name="Text 9"/>
          <p:cNvSpPr/>
          <p:nvPr/>
        </p:nvSpPr>
        <p:spPr bwMode="auto">
          <a:xfrm>
            <a:off x="4709160" y="14356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Analysis utilities</a:t>
            </a:r>
            <a:endParaRPr lang="en-US" sz="1500"/>
          </a:p>
        </p:txBody>
      </p:sp>
      <p:sp>
        <p:nvSpPr>
          <p:cNvPr id="415658903" name="Text 10"/>
          <p:cNvSpPr/>
          <p:nvPr/>
        </p:nvSpPr>
        <p:spPr bwMode="auto">
          <a:xfrm>
            <a:off x="4727448" y="1755648"/>
            <a:ext cx="31181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/upload, /run, /translate, /voice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/visualize, /analyze, /generate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/tool for embedding model selection</a:t>
            </a:r>
            <a:endParaRPr lang="en-US" sz="1150"/>
          </a:p>
        </p:txBody>
      </p:sp>
      <p:sp>
        <p:nvSpPr>
          <p:cNvPr id="1616479569" name="Shape 11"/>
          <p:cNvSpPr/>
          <p:nvPr/>
        </p:nvSpPr>
        <p:spPr bwMode="auto">
          <a:xfrm>
            <a:off x="8138160" y="132588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87694676" name="Shape 12"/>
          <p:cNvSpPr/>
          <p:nvPr/>
        </p:nvSpPr>
        <p:spPr bwMode="auto">
          <a:xfrm>
            <a:off x="8138160" y="1325880"/>
            <a:ext cx="73152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0992044" name="Text 13"/>
          <p:cNvSpPr/>
          <p:nvPr/>
        </p:nvSpPr>
        <p:spPr bwMode="auto">
          <a:xfrm>
            <a:off x="8321039" y="143560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Web and security</a:t>
            </a:r>
            <a:endParaRPr lang="en-US" sz="1500"/>
          </a:p>
        </p:txBody>
      </p:sp>
      <p:sp>
        <p:nvSpPr>
          <p:cNvPr id="1428296674" name="Text 14"/>
          <p:cNvSpPr/>
          <p:nvPr/>
        </p:nvSpPr>
        <p:spPr bwMode="auto">
          <a:xfrm>
            <a:off x="8339328" y="1755648"/>
            <a:ext cx="302666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/search, /crawl, /webai, /webmode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/searchbackend, /verify, /websources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/secmode, /owasp, /securl, /zapfile, /nmapxml</a:t>
            </a:r>
            <a:endParaRPr lang="en-US" sz="1150"/>
          </a:p>
        </p:txBody>
      </p:sp>
      <p:sp>
        <p:nvSpPr>
          <p:cNvPr id="385487915" name="Shape 15"/>
          <p:cNvSpPr/>
          <p:nvPr/>
        </p:nvSpPr>
        <p:spPr bwMode="auto">
          <a:xfrm>
            <a:off x="1051560" y="3840480"/>
            <a:ext cx="49834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13671364" name="Shape 16"/>
          <p:cNvSpPr/>
          <p:nvPr/>
        </p:nvSpPr>
        <p:spPr bwMode="auto">
          <a:xfrm>
            <a:off x="1051560" y="3840480"/>
            <a:ext cx="7315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0942923" name="Text 17"/>
          <p:cNvSpPr/>
          <p:nvPr/>
        </p:nvSpPr>
        <p:spPr bwMode="auto">
          <a:xfrm>
            <a:off x="1234440" y="395020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Advanced reasoning workflows</a:t>
            </a:r>
            <a:endParaRPr lang="en-US" sz="1500"/>
          </a:p>
        </p:txBody>
      </p:sp>
      <p:sp>
        <p:nvSpPr>
          <p:cNvPr id="440031095" name="Text 18"/>
          <p:cNvSpPr/>
          <p:nvPr/>
        </p:nvSpPr>
        <p:spPr bwMode="auto">
          <a:xfrm>
            <a:off x="1252728" y="4270248"/>
            <a:ext cx="4672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/multi lets one prompt go to multiple models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/compare compares answers across chosen models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/router heuristically auto-picks a model by math / security / general intent</a:t>
            </a:r>
            <a:endParaRPr lang="en-US" sz="1150"/>
          </a:p>
        </p:txBody>
      </p:sp>
      <p:sp>
        <p:nvSpPr>
          <p:cNvPr id="115598921" name="Shape 19"/>
          <p:cNvSpPr/>
          <p:nvPr/>
        </p:nvSpPr>
        <p:spPr bwMode="auto">
          <a:xfrm>
            <a:off x="6263640" y="3840480"/>
            <a:ext cx="4572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28568265" name="Shape 20"/>
          <p:cNvSpPr/>
          <p:nvPr/>
        </p:nvSpPr>
        <p:spPr bwMode="auto">
          <a:xfrm>
            <a:off x="6263640" y="3840480"/>
            <a:ext cx="73152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86099903" name="Text 21"/>
          <p:cNvSpPr/>
          <p:nvPr/>
        </p:nvSpPr>
        <p:spPr bwMode="auto">
          <a:xfrm>
            <a:off x="6446520" y="39502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Math helper workflows</a:t>
            </a:r>
            <a:endParaRPr lang="en-US" sz="1500"/>
          </a:p>
        </p:txBody>
      </p:sp>
      <p:sp>
        <p:nvSpPr>
          <p:cNvPr id="586578489" name="Text 22"/>
          <p:cNvSpPr/>
          <p:nvPr/>
        </p:nvSpPr>
        <p:spPr bwMode="auto">
          <a:xfrm>
            <a:off x="6464808" y="4270248"/>
            <a:ext cx="42611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/doublecheck gets a reviewer model to critique a primary answer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/solve enforces step-by-step math output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/checksolution critiques a pasted student solution</a:t>
            </a:r>
            <a:endParaRPr lang="en-US" sz="1150"/>
          </a:p>
        </p:txBody>
      </p:sp>
      <p:sp>
        <p:nvSpPr>
          <p:cNvPr id="243863591" name="Text 23"/>
          <p:cNvSpPr/>
          <p:nvPr/>
        </p:nvSpPr>
        <p:spPr bwMode="auto">
          <a:xfrm>
            <a:off x="731520" y="5897880"/>
            <a:ext cx="8961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</a:rPr>
              <a:t>Approximate command groups: 30+ user-facing commands spanning chat, web, security, documents, and orchestration.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5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781623" name="Text 0"/>
          <p:cNvSpPr/>
          <p:nvPr/>
        </p:nvSpPr>
        <p:spPr bwMode="auto">
          <a:xfrm>
            <a:off x="54864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Web-assisted and security workflows</a:t>
            </a:r>
            <a:endParaRPr lang="en-US" sz="2700"/>
          </a:p>
        </p:txBody>
      </p:sp>
      <p:sp>
        <p:nvSpPr>
          <p:cNvPr id="135579219" name="Text 1"/>
          <p:cNvSpPr/>
          <p:nvPr/>
        </p:nvSpPr>
        <p:spPr bwMode="auto">
          <a:xfrm>
            <a:off x="548640" y="7498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V7-V9 added the most distinctive functionality: grounded web answers and defensive security analysis.</a:t>
            </a:r>
            <a:endParaRPr lang="en-US" sz="1100"/>
          </a:p>
        </p:txBody>
      </p:sp>
      <p:sp>
        <p:nvSpPr>
          <p:cNvPr id="1614351469" name="Shape 2"/>
          <p:cNvSpPr/>
          <p:nvPr/>
        </p:nvSpPr>
        <p:spPr bwMode="auto"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953080671" name="Shape 3"/>
          <p:cNvSpPr/>
          <p:nvPr/>
        </p:nvSpPr>
        <p:spPr bwMode="auto">
          <a:xfrm>
            <a:off x="1554480" y="2423160"/>
            <a:ext cx="96012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  <a:headEnd type="none"/>
            <a:tailEnd type="triangle"/>
          </a:ln>
        </p:spPr>
      </p:sp>
      <p:sp>
        <p:nvSpPr>
          <p:cNvPr id="1960693260" name="Shape 4"/>
          <p:cNvSpPr/>
          <p:nvPr/>
        </p:nvSpPr>
        <p:spPr bwMode="auto">
          <a:xfrm>
            <a:off x="3749040" y="2423160"/>
            <a:ext cx="96012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  <a:headEnd type="none"/>
            <a:tailEnd type="triangle"/>
          </a:ln>
        </p:spPr>
      </p:sp>
      <p:sp>
        <p:nvSpPr>
          <p:cNvPr id="1163879481" name="Shape 5"/>
          <p:cNvSpPr/>
          <p:nvPr/>
        </p:nvSpPr>
        <p:spPr bwMode="auto">
          <a:xfrm>
            <a:off x="5989320" y="2423160"/>
            <a:ext cx="91440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  <a:headEnd type="none"/>
            <a:tailEnd type="triangle"/>
          </a:ln>
        </p:spPr>
      </p:sp>
      <p:sp>
        <p:nvSpPr>
          <p:cNvPr id="2129666680" name="Shape 6"/>
          <p:cNvSpPr/>
          <p:nvPr/>
        </p:nvSpPr>
        <p:spPr bwMode="auto">
          <a:xfrm>
            <a:off x="731520" y="192024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43748923" name="Text 7"/>
          <p:cNvSpPr/>
          <p:nvPr/>
        </p:nvSpPr>
        <p:spPr bwMode="auto">
          <a:xfrm>
            <a:off x="804672" y="22128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User question</a:t>
            </a:r>
            <a:endParaRPr lang="en-US" sz="1500"/>
          </a:p>
        </p:txBody>
      </p:sp>
      <p:sp>
        <p:nvSpPr>
          <p:cNvPr id="662041382" name="Shape 8"/>
          <p:cNvSpPr/>
          <p:nvPr/>
        </p:nvSpPr>
        <p:spPr bwMode="auto">
          <a:xfrm>
            <a:off x="2651760" y="192024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87318404" name="Text 9"/>
          <p:cNvSpPr/>
          <p:nvPr/>
        </p:nvSpPr>
        <p:spPr bwMode="auto">
          <a:xfrm>
            <a:off x="2724911" y="22128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Search / fetch</a:t>
            </a:r>
            <a:endParaRPr lang="en-US" sz="1500"/>
          </a:p>
        </p:txBody>
      </p:sp>
      <p:sp>
        <p:nvSpPr>
          <p:cNvPr id="194878766" name="Shape 10"/>
          <p:cNvSpPr/>
          <p:nvPr/>
        </p:nvSpPr>
        <p:spPr bwMode="auto">
          <a:xfrm>
            <a:off x="4892039" y="192024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EAF7EE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8939778" name="Text 11"/>
          <p:cNvSpPr/>
          <p:nvPr/>
        </p:nvSpPr>
        <p:spPr bwMode="auto">
          <a:xfrm>
            <a:off x="4965192" y="22128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Evidence summary</a:t>
            </a:r>
            <a:endParaRPr lang="en-US" sz="1500"/>
          </a:p>
        </p:txBody>
      </p:sp>
      <p:sp>
        <p:nvSpPr>
          <p:cNvPr id="1746801622" name="Shape 12"/>
          <p:cNvSpPr/>
          <p:nvPr/>
        </p:nvSpPr>
        <p:spPr bwMode="auto">
          <a:xfrm>
            <a:off x="7086600" y="192024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8468700" name="Text 13"/>
          <p:cNvSpPr/>
          <p:nvPr/>
        </p:nvSpPr>
        <p:spPr bwMode="auto">
          <a:xfrm>
            <a:off x="7159752" y="22128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Grounded answer</a:t>
            </a:r>
            <a:endParaRPr lang="en-US" sz="1500"/>
          </a:p>
        </p:txBody>
      </p:sp>
      <p:sp>
        <p:nvSpPr>
          <p:cNvPr id="842693164" name="Shape 14"/>
          <p:cNvSpPr/>
          <p:nvPr/>
        </p:nvSpPr>
        <p:spPr bwMode="auto">
          <a:xfrm>
            <a:off x="777240" y="352044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07303308" name="Shape 15"/>
          <p:cNvSpPr/>
          <p:nvPr/>
        </p:nvSpPr>
        <p:spPr bwMode="auto">
          <a:xfrm>
            <a:off x="777240" y="352044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39935734" name="Text 16"/>
          <p:cNvSpPr/>
          <p:nvPr/>
        </p:nvSpPr>
        <p:spPr bwMode="auto">
          <a:xfrm>
            <a:off x="960120" y="3630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/webai and webmode</a:t>
            </a:r>
            <a:endParaRPr lang="en-US" sz="1500"/>
          </a:p>
        </p:txBody>
      </p:sp>
      <p:sp>
        <p:nvSpPr>
          <p:cNvPr id="458759966" name="Text 17"/>
          <p:cNvSpPr/>
          <p:nvPr/>
        </p:nvSpPr>
        <p:spPr bwMode="auto">
          <a:xfrm>
            <a:off x="978408" y="3950208"/>
            <a:ext cx="33467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forced or default web-assisted responses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verification mode prints raw evidence snippets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fallback path can fetch a user-provided direct URL</a:t>
            </a:r>
            <a:endParaRPr lang="en-US" sz="1150"/>
          </a:p>
        </p:txBody>
      </p:sp>
      <p:sp>
        <p:nvSpPr>
          <p:cNvPr id="458134841" name="Shape 18"/>
          <p:cNvSpPr/>
          <p:nvPr/>
        </p:nvSpPr>
        <p:spPr bwMode="auto">
          <a:xfrm>
            <a:off x="4617720" y="3520440"/>
            <a:ext cx="3063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5055386" name="Shape 19"/>
          <p:cNvSpPr/>
          <p:nvPr/>
        </p:nvSpPr>
        <p:spPr bwMode="auto">
          <a:xfrm>
            <a:off x="4617720" y="3520440"/>
            <a:ext cx="73152" cy="1874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28694142" name="Text 20"/>
          <p:cNvSpPr/>
          <p:nvPr/>
        </p:nvSpPr>
        <p:spPr bwMode="auto">
          <a:xfrm>
            <a:off x="4800600" y="36301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Search backends</a:t>
            </a:r>
            <a:endParaRPr lang="en-US" sz="1500"/>
          </a:p>
        </p:txBody>
      </p:sp>
      <p:sp>
        <p:nvSpPr>
          <p:cNvPr id="72519109" name="Text 21"/>
          <p:cNvSpPr/>
          <p:nvPr/>
        </p:nvSpPr>
        <p:spPr bwMode="auto">
          <a:xfrm>
            <a:off x="4818888" y="3950208"/>
            <a:ext cx="2752343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DuckDuckGo API + HTML fallback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SearXNG HTML POST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Bing API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Google CSE API</a:t>
            </a:r>
            <a:endParaRPr lang="en-US" sz="1150"/>
          </a:p>
        </p:txBody>
      </p:sp>
      <p:sp>
        <p:nvSpPr>
          <p:cNvPr id="1057795629" name="Shape 22"/>
          <p:cNvSpPr/>
          <p:nvPr/>
        </p:nvSpPr>
        <p:spPr bwMode="auto">
          <a:xfrm>
            <a:off x="7863840" y="35204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65424018" name="Shape 23"/>
          <p:cNvSpPr/>
          <p:nvPr/>
        </p:nvSpPr>
        <p:spPr bwMode="auto">
          <a:xfrm>
            <a:off x="7863840" y="352044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11994758" name="Text 24"/>
          <p:cNvSpPr/>
          <p:nvPr/>
        </p:nvSpPr>
        <p:spPr bwMode="auto">
          <a:xfrm>
            <a:off x="8046720" y="36301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Defensive security tools</a:t>
            </a:r>
            <a:endParaRPr lang="en-US" sz="1500"/>
          </a:p>
        </p:txBody>
      </p:sp>
      <p:sp>
        <p:nvSpPr>
          <p:cNvPr id="650105724" name="Text 25"/>
          <p:cNvSpPr/>
          <p:nvPr/>
        </p:nvSpPr>
        <p:spPr bwMode="auto">
          <a:xfrm>
            <a:off x="8065008" y="3950208"/>
            <a:ext cx="32095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OWASP prompt wrapper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security header report for a URL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ZAP and Nmap report interpretation</a:t>
            </a:r>
            <a:endParaRPr lang="en-US" sz="1150"/>
          </a:p>
        </p:txBody>
      </p:sp>
      <p:sp>
        <p:nvSpPr>
          <p:cNvPr id="37273591" name="Shape 26"/>
          <p:cNvSpPr/>
          <p:nvPr/>
        </p:nvSpPr>
        <p:spPr bwMode="auto">
          <a:xfrm>
            <a:off x="8321039" y="132588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9076297" name="Text 27"/>
          <p:cNvSpPr/>
          <p:nvPr/>
        </p:nvSpPr>
        <p:spPr bwMode="auto">
          <a:xfrm>
            <a:off x="8394192" y="1376171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</a:rPr>
              <a:t>Defensive orientation, not offensive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5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863118" name="Text 0"/>
          <p:cNvSpPr/>
          <p:nvPr/>
        </p:nvSpPr>
        <p:spPr bwMode="auto">
          <a:xfrm>
            <a:off x="54864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Files, document generation, and utilities</a:t>
            </a:r>
            <a:endParaRPr lang="en-US" sz="2700"/>
          </a:p>
        </p:txBody>
      </p:sp>
      <p:sp>
        <p:nvSpPr>
          <p:cNvPr id="11888947" name="Text 1"/>
          <p:cNvSpPr/>
          <p:nvPr/>
        </p:nvSpPr>
        <p:spPr bwMode="auto">
          <a:xfrm>
            <a:off x="548640" y="7498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The script can ingest files, ask questions about them, and export model output into multiple formats.</a:t>
            </a:r>
            <a:endParaRPr lang="en-US" sz="1100"/>
          </a:p>
        </p:txBody>
      </p:sp>
      <p:sp>
        <p:nvSpPr>
          <p:cNvPr id="1760087845" name="Shape 2"/>
          <p:cNvSpPr/>
          <p:nvPr/>
        </p:nvSpPr>
        <p:spPr bwMode="auto"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1238970005" name="Shape 3"/>
          <p:cNvSpPr/>
          <p:nvPr/>
        </p:nvSpPr>
        <p:spPr bwMode="auto">
          <a:xfrm>
            <a:off x="731520" y="1417320"/>
            <a:ext cx="2240280" cy="352044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74622778" name="Text 4"/>
          <p:cNvSpPr/>
          <p:nvPr/>
        </p:nvSpPr>
        <p:spPr bwMode="auto">
          <a:xfrm>
            <a:off x="914400" y="16642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Accepted uploads</a:t>
            </a:r>
            <a:endParaRPr lang="en-US" sz="1600"/>
          </a:p>
        </p:txBody>
      </p:sp>
      <p:sp>
        <p:nvSpPr>
          <p:cNvPr id="163162691" name="Text 5"/>
          <p:cNvSpPr/>
          <p:nvPr/>
        </p:nvSpPr>
        <p:spPr bwMode="auto">
          <a:xfrm>
            <a:off x="932688" y="19933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50">
                <a:solidFill>
                  <a:srgbClr val="1F2937"/>
                </a:solidFill>
              </a:rPr>
              <a:t>images (.png/.jpg/.jpeg)</a:t>
            </a:r>
            <a:endParaRPr lang="en-US" sz="1250"/>
          </a:p>
        </p:txBody>
      </p:sp>
      <p:sp>
        <p:nvSpPr>
          <p:cNvPr id="1811356178" name="Text 6"/>
          <p:cNvSpPr/>
          <p:nvPr/>
        </p:nvSpPr>
        <p:spPr bwMode="auto">
          <a:xfrm>
            <a:off x="932688" y="23682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50">
                <a:solidFill>
                  <a:srgbClr val="1F2937"/>
                </a:solidFill>
              </a:rPr>
              <a:t>text (.txt)</a:t>
            </a:r>
            <a:endParaRPr lang="en-US" sz="1250"/>
          </a:p>
        </p:txBody>
      </p:sp>
      <p:sp>
        <p:nvSpPr>
          <p:cNvPr id="1547273328" name="Text 7"/>
          <p:cNvSpPr/>
          <p:nvPr/>
        </p:nvSpPr>
        <p:spPr bwMode="auto">
          <a:xfrm>
            <a:off x="932688" y="27432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50">
                <a:solidFill>
                  <a:srgbClr val="1F2937"/>
                </a:solidFill>
              </a:rPr>
              <a:t>PDF (.pdf)</a:t>
            </a:r>
            <a:endParaRPr lang="en-US" sz="1250"/>
          </a:p>
        </p:txBody>
      </p:sp>
      <p:sp>
        <p:nvSpPr>
          <p:cNvPr id="910776859" name="Text 8"/>
          <p:cNvSpPr/>
          <p:nvPr/>
        </p:nvSpPr>
        <p:spPr bwMode="auto">
          <a:xfrm>
            <a:off x="932688" y="3118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50">
                <a:solidFill>
                  <a:srgbClr val="1F2937"/>
                </a:solidFill>
              </a:rPr>
              <a:t>DOCX (.docx)</a:t>
            </a:r>
            <a:endParaRPr lang="en-US" sz="1250"/>
          </a:p>
        </p:txBody>
      </p:sp>
      <p:sp>
        <p:nvSpPr>
          <p:cNvPr id="1913371744" name="Text 9"/>
          <p:cNvSpPr/>
          <p:nvPr/>
        </p:nvSpPr>
        <p:spPr bwMode="auto">
          <a:xfrm>
            <a:off x="932688" y="34930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50">
                <a:solidFill>
                  <a:srgbClr val="1F2937"/>
                </a:solidFill>
              </a:rPr>
              <a:t>PPTX (.pptx)</a:t>
            </a:r>
            <a:endParaRPr lang="en-US" sz="1250"/>
          </a:p>
        </p:txBody>
      </p:sp>
      <p:sp>
        <p:nvSpPr>
          <p:cNvPr id="1704590451" name="Text 10"/>
          <p:cNvSpPr/>
          <p:nvPr/>
        </p:nvSpPr>
        <p:spPr bwMode="auto">
          <a:xfrm>
            <a:off x="932688" y="3867911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  <a:defRPr/>
            </a:pPr>
            <a:r>
              <a:rPr lang="en-US" sz="1250">
                <a:solidFill>
                  <a:srgbClr val="1F2937"/>
                </a:solidFill>
              </a:rPr>
              <a:t>XLSX (.xlsx)</a:t>
            </a:r>
            <a:endParaRPr lang="en-US" sz="1250"/>
          </a:p>
        </p:txBody>
      </p:sp>
      <p:sp>
        <p:nvSpPr>
          <p:cNvPr id="1682134321" name="Shape 11"/>
          <p:cNvSpPr/>
          <p:nvPr/>
        </p:nvSpPr>
        <p:spPr bwMode="auto">
          <a:xfrm>
            <a:off x="3246120" y="1417320"/>
            <a:ext cx="361188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95948564" name="Text 12"/>
          <p:cNvSpPr/>
          <p:nvPr/>
        </p:nvSpPr>
        <p:spPr bwMode="auto">
          <a:xfrm>
            <a:off x="3474720" y="16642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Generation pipeline</a:t>
            </a:r>
            <a:endParaRPr lang="en-US" sz="1600"/>
          </a:p>
        </p:txBody>
      </p:sp>
      <p:sp>
        <p:nvSpPr>
          <p:cNvPr id="1632725436" name="Text 13"/>
          <p:cNvSpPr/>
          <p:nvPr/>
        </p:nvSpPr>
        <p:spPr bwMode="auto">
          <a:xfrm>
            <a:off x="3493008" y="20116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F2937"/>
                </a:solidFill>
              </a:rPr>
              <a:t>/generate exports the latest model answer</a:t>
            </a:r>
            <a:br>
              <a:rPr lang="en-US" sz="1300">
                <a:solidFill>
                  <a:srgbClr val="1F2937"/>
                </a:solidFill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1F2937"/>
                </a:solidFill>
              </a:rPr>
              <a:t>PDF via Pandoc + XeLaTeX or pdflatex</a:t>
            </a:r>
            <a:br>
              <a:rPr lang="en-US" sz="1300">
                <a:solidFill>
                  <a:srgbClr val="1F2937"/>
                </a:solidFill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1F2937"/>
                </a:solidFill>
              </a:rPr>
              <a:t>DOCX via python-docx</a:t>
            </a:r>
            <a:br>
              <a:rPr lang="en-US" sz="1300">
                <a:solidFill>
                  <a:srgbClr val="1F2937"/>
                </a:solidFill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1F2937"/>
                </a:solidFill>
              </a:rPr>
              <a:t>TXT and Markdown direct writes</a:t>
            </a:r>
            <a:br>
              <a:rPr lang="en-US" sz="1300">
                <a:solidFill>
                  <a:srgbClr val="1F2937"/>
                </a:solidFill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1F2937"/>
                </a:solidFill>
              </a:rPr>
              <a:t>sanitize_content() handles some math markup conversions</a:t>
            </a:r>
            <a:endParaRPr lang="en-US" sz="1300"/>
          </a:p>
        </p:txBody>
      </p:sp>
      <p:sp>
        <p:nvSpPr>
          <p:cNvPr id="147495783" name="Shape 14"/>
          <p:cNvSpPr/>
          <p:nvPr/>
        </p:nvSpPr>
        <p:spPr bwMode="auto">
          <a:xfrm>
            <a:off x="7132320" y="14173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8159655" name="Text 15"/>
          <p:cNvSpPr/>
          <p:nvPr/>
        </p:nvSpPr>
        <p:spPr bwMode="auto">
          <a:xfrm>
            <a:off x="7360920" y="1664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Other utilities</a:t>
            </a:r>
            <a:endParaRPr lang="en-US" sz="1600"/>
          </a:p>
        </p:txBody>
      </p:sp>
      <p:sp>
        <p:nvSpPr>
          <p:cNvPr id="1074488294" name="Text 16"/>
          <p:cNvSpPr/>
          <p:nvPr/>
        </p:nvSpPr>
        <p:spPr bwMode="auto">
          <a:xfrm>
            <a:off x="7360920" y="19933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F2937"/>
                </a:solidFill>
              </a:rPr>
              <a:t>translation, voice input, restricted Python execution, and matplotlib charting are built in.</a:t>
            </a:r>
            <a:endParaRPr lang="en-US" sz="1300"/>
          </a:p>
        </p:txBody>
      </p:sp>
      <p:sp>
        <p:nvSpPr>
          <p:cNvPr id="815759242" name="Shape 17"/>
          <p:cNvSpPr/>
          <p:nvPr/>
        </p:nvSpPr>
        <p:spPr bwMode="auto">
          <a:xfrm>
            <a:off x="7132320" y="306324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80357722" name="Text 18"/>
          <p:cNvSpPr/>
          <p:nvPr/>
        </p:nvSpPr>
        <p:spPr bwMode="auto">
          <a:xfrm>
            <a:off x="7360920" y="3310127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</a:rPr>
              <a:t>Persistence</a:t>
            </a:r>
            <a:endParaRPr lang="en-US" sz="1600"/>
          </a:p>
        </p:txBody>
      </p:sp>
      <p:sp>
        <p:nvSpPr>
          <p:cNvPr id="681132925" name="Text 19"/>
          <p:cNvSpPr/>
          <p:nvPr/>
        </p:nvSpPr>
        <p:spPr bwMode="auto">
          <a:xfrm>
            <a:off x="7360920" y="363931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F2937"/>
                </a:solidFill>
              </a:rPr>
              <a:t>Conversations are stored under ~/.ollama_ai_chat as JSON or Markdown, and the current chat is auto-saved on exit commands.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5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321853" name="Text 0"/>
          <p:cNvSpPr/>
          <p:nvPr/>
        </p:nvSpPr>
        <p:spPr bwMode="auto">
          <a:xfrm>
            <a:off x="54864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Implementation findings: strengths and gaps</a:t>
            </a:r>
            <a:endParaRPr lang="en-US" sz="2700"/>
          </a:p>
        </p:txBody>
      </p:sp>
      <p:sp>
        <p:nvSpPr>
          <p:cNvPr id="123650062" name="Text 1"/>
          <p:cNvSpPr/>
          <p:nvPr/>
        </p:nvSpPr>
        <p:spPr bwMode="auto">
          <a:xfrm>
            <a:off x="548640" y="7498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The concept is strong, but the file shows several maintainability and runtime issues.</a:t>
            </a:r>
            <a:endParaRPr lang="en-US" sz="1100"/>
          </a:p>
        </p:txBody>
      </p:sp>
      <p:sp>
        <p:nvSpPr>
          <p:cNvPr id="65882078" name="Shape 2"/>
          <p:cNvSpPr/>
          <p:nvPr/>
        </p:nvSpPr>
        <p:spPr bwMode="auto"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613327863" name="Shape 3"/>
          <p:cNvSpPr/>
          <p:nvPr/>
        </p:nvSpPr>
        <p:spPr bwMode="auto">
          <a:xfrm>
            <a:off x="731520" y="141732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08568701" name="Shape 4"/>
          <p:cNvSpPr/>
          <p:nvPr/>
        </p:nvSpPr>
        <p:spPr bwMode="auto">
          <a:xfrm>
            <a:off x="731520" y="1417320"/>
            <a:ext cx="73152" cy="4206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22061369" name="Text 5"/>
          <p:cNvSpPr/>
          <p:nvPr/>
        </p:nvSpPr>
        <p:spPr bwMode="auto">
          <a:xfrm>
            <a:off x="914400" y="15270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What is working well</a:t>
            </a:r>
            <a:endParaRPr lang="en-US" sz="1500"/>
          </a:p>
        </p:txBody>
      </p:sp>
      <p:sp>
        <p:nvSpPr>
          <p:cNvPr id="1881476301" name="Text 6"/>
          <p:cNvSpPr/>
          <p:nvPr/>
        </p:nvSpPr>
        <p:spPr bwMode="auto">
          <a:xfrm>
            <a:off x="932688" y="1847088"/>
            <a:ext cx="4809744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broad command surface in a single local CLI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multi-backend web augmentation with fallback logic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defensive security framing instead of exploit-oriented behavior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multi-model comparison, routing, and reviewer workflows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document export and chart utilities add practical value</a:t>
            </a:r>
            <a:endParaRPr lang="en-US" sz="1150"/>
          </a:p>
        </p:txBody>
      </p:sp>
      <p:sp>
        <p:nvSpPr>
          <p:cNvPr id="1742642988" name="Shape 7"/>
          <p:cNvSpPr/>
          <p:nvPr/>
        </p:nvSpPr>
        <p:spPr bwMode="auto">
          <a:xfrm>
            <a:off x="6126480" y="141732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37884445" name="Shape 8"/>
          <p:cNvSpPr/>
          <p:nvPr/>
        </p:nvSpPr>
        <p:spPr bwMode="auto">
          <a:xfrm>
            <a:off x="6126480" y="1417320"/>
            <a:ext cx="73152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27374378" name="Text 9"/>
          <p:cNvSpPr/>
          <p:nvPr/>
        </p:nvSpPr>
        <p:spPr bwMode="auto">
          <a:xfrm>
            <a:off x="6309360" y="15270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Likely issues to fix</a:t>
            </a:r>
            <a:endParaRPr lang="en-US" sz="1500"/>
          </a:p>
        </p:txBody>
      </p:sp>
      <p:sp>
        <p:nvSpPr>
          <p:cNvPr id="1101579053" name="Text 10"/>
          <p:cNvSpPr/>
          <p:nvPr/>
        </p:nvSpPr>
        <p:spPr bwMode="auto">
          <a:xfrm>
            <a:off x="6327648" y="1847088"/>
            <a:ext cx="4992624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/load and /sentiment reference missing functions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custom_prompt is set but not applied in prompting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ask_question returns before TTS playback block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PPTX upload extraction likely fails by reading slide.text directly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simple exec() restrictions are not a real sandbox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monolithic if/elif command handler is hard to maintain</a:t>
            </a:r>
            <a:endParaRPr lang="en-US" sz="1150"/>
          </a:p>
        </p:txBody>
      </p:sp>
      <p:sp>
        <p:nvSpPr>
          <p:cNvPr id="1923897292" name="Shape 11"/>
          <p:cNvSpPr/>
          <p:nvPr/>
        </p:nvSpPr>
        <p:spPr bwMode="auto">
          <a:xfrm>
            <a:off x="777240" y="589788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91898876" name="Text 12"/>
          <p:cNvSpPr/>
          <p:nvPr/>
        </p:nvSpPr>
        <p:spPr bwMode="auto">
          <a:xfrm>
            <a:off x="850392" y="5948172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</a:rPr>
              <a:t>Overall: strong prototype</a:t>
            </a:r>
            <a:endParaRPr lang="en-US" sz="1050"/>
          </a:p>
        </p:txBody>
      </p:sp>
      <p:sp>
        <p:nvSpPr>
          <p:cNvPr id="1656592562" name="Shape 13"/>
          <p:cNvSpPr/>
          <p:nvPr/>
        </p:nvSpPr>
        <p:spPr bwMode="auto">
          <a:xfrm>
            <a:off x="2971800" y="589788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3913764" name="Text 14"/>
          <p:cNvSpPr/>
          <p:nvPr/>
        </p:nvSpPr>
        <p:spPr bwMode="auto">
          <a:xfrm>
            <a:off x="3044952" y="5948172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FFFF"/>
                </a:solidFill>
              </a:rPr>
              <a:t>Needs refactor + hardening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5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34722" name="Text 0"/>
          <p:cNvSpPr/>
          <p:nvPr/>
        </p:nvSpPr>
        <p:spPr bwMode="auto">
          <a:xfrm>
            <a:off x="54864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Recommended next steps</a:t>
            </a:r>
            <a:endParaRPr lang="en-US" sz="2700"/>
          </a:p>
        </p:txBody>
      </p:sp>
      <p:sp>
        <p:nvSpPr>
          <p:cNvPr id="149873079" name="Text 1"/>
          <p:cNvSpPr/>
          <p:nvPr/>
        </p:nvSpPr>
        <p:spPr bwMode="auto">
          <a:xfrm>
            <a:off x="548640" y="7498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A practical path to turn the script from a powerful prototype into a more reliable product.</a:t>
            </a:r>
            <a:endParaRPr lang="en-US" sz="1100"/>
          </a:p>
        </p:txBody>
      </p:sp>
      <p:sp>
        <p:nvSpPr>
          <p:cNvPr id="103716353" name="Shape 2"/>
          <p:cNvSpPr/>
          <p:nvPr/>
        </p:nvSpPr>
        <p:spPr bwMode="auto"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506354045" name="Shape 3"/>
          <p:cNvSpPr/>
          <p:nvPr/>
        </p:nvSpPr>
        <p:spPr bwMode="auto">
          <a:xfrm>
            <a:off x="822960" y="1417320"/>
            <a:ext cx="3474720" cy="42519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35800608" name="Shape 4"/>
          <p:cNvSpPr/>
          <p:nvPr/>
        </p:nvSpPr>
        <p:spPr bwMode="auto">
          <a:xfrm>
            <a:off x="822960" y="1417320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38505071" name="Text 5"/>
          <p:cNvSpPr/>
          <p:nvPr/>
        </p:nvSpPr>
        <p:spPr bwMode="auto">
          <a:xfrm>
            <a:off x="1005840" y="15270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1. Stabilize</a:t>
            </a:r>
            <a:endParaRPr lang="en-US" sz="1500"/>
          </a:p>
        </p:txBody>
      </p:sp>
      <p:sp>
        <p:nvSpPr>
          <p:cNvPr id="397805207" name="Text 6"/>
          <p:cNvSpPr/>
          <p:nvPr/>
        </p:nvSpPr>
        <p:spPr bwMode="auto">
          <a:xfrm>
            <a:off x="1024128" y="1847088"/>
            <a:ext cx="316382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implement missing functions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fix PPTX parsing and signal handling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move TTS before return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improve error handling for missing keys/binaries</a:t>
            </a:r>
            <a:endParaRPr lang="en-US" sz="1150"/>
          </a:p>
        </p:txBody>
      </p:sp>
      <p:sp>
        <p:nvSpPr>
          <p:cNvPr id="1020659249" name="Shape 7"/>
          <p:cNvSpPr/>
          <p:nvPr/>
        </p:nvSpPr>
        <p:spPr bwMode="auto">
          <a:xfrm>
            <a:off x="4434840" y="1417320"/>
            <a:ext cx="3291840" cy="42519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87032446" name="Shape 8"/>
          <p:cNvSpPr/>
          <p:nvPr/>
        </p:nvSpPr>
        <p:spPr bwMode="auto">
          <a:xfrm>
            <a:off x="4434840" y="1417320"/>
            <a:ext cx="73152" cy="4251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57697106" name="Text 9"/>
          <p:cNvSpPr/>
          <p:nvPr/>
        </p:nvSpPr>
        <p:spPr bwMode="auto">
          <a:xfrm>
            <a:off x="4617720" y="1527048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2. Secure</a:t>
            </a:r>
            <a:endParaRPr lang="en-US" sz="1500"/>
          </a:p>
        </p:txBody>
      </p:sp>
      <p:sp>
        <p:nvSpPr>
          <p:cNvPr id="1305042529" name="Text 10"/>
          <p:cNvSpPr/>
          <p:nvPr/>
        </p:nvSpPr>
        <p:spPr bwMode="auto">
          <a:xfrm>
            <a:off x="4636008" y="1847088"/>
            <a:ext cx="298094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replace raw exec with real isolation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validate URL/file sizes before fetch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separate safe defensive prompts from generic chat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add tests for security report paths</a:t>
            </a:r>
            <a:endParaRPr lang="en-US" sz="1150"/>
          </a:p>
        </p:txBody>
      </p:sp>
      <p:sp>
        <p:nvSpPr>
          <p:cNvPr id="1773639033" name="Shape 11"/>
          <p:cNvSpPr/>
          <p:nvPr/>
        </p:nvSpPr>
        <p:spPr bwMode="auto">
          <a:xfrm>
            <a:off x="7909560" y="1417320"/>
            <a:ext cx="3383280" cy="42519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18044860" name="Shape 12"/>
          <p:cNvSpPr/>
          <p:nvPr/>
        </p:nvSpPr>
        <p:spPr bwMode="auto">
          <a:xfrm>
            <a:off x="7909560" y="1417320"/>
            <a:ext cx="73152" cy="4251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646399" name="Text 13"/>
          <p:cNvSpPr/>
          <p:nvPr/>
        </p:nvSpPr>
        <p:spPr bwMode="auto">
          <a:xfrm>
            <a:off x="8092440" y="15270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</a:rPr>
              <a:t>3. Modularize</a:t>
            </a:r>
            <a:endParaRPr lang="en-US" sz="1500"/>
          </a:p>
        </p:txBody>
      </p:sp>
      <p:sp>
        <p:nvSpPr>
          <p:cNvPr id="1368896784" name="Text 14"/>
          <p:cNvSpPr/>
          <p:nvPr/>
        </p:nvSpPr>
        <p:spPr bwMode="auto">
          <a:xfrm>
            <a:off x="8110728" y="1847088"/>
            <a:ext cx="307238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split into chat/web/security/files/docs modules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use a command registry instead of long if/elif chains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introduce config objects over globals</a:t>
            </a:r>
            <a:endParaRPr lang="en-US" sz="1150"/>
          </a:p>
          <a:p>
            <a:pPr marL="127000" indent="-127000">
              <a:buSzPct val="100000"/>
              <a:buChar char="•"/>
              <a:defRPr/>
            </a:pPr>
            <a:r>
              <a:rPr lang="en-US" sz="1150">
                <a:solidFill>
                  <a:srgbClr val="1F2937"/>
                </a:solidFill>
              </a:rPr>
              <a:t>add unit tests and sample fixtures</a:t>
            </a:r>
            <a:endParaRPr lang="en-US" sz="1150"/>
          </a:p>
        </p:txBody>
      </p:sp>
      <p:sp>
        <p:nvSpPr>
          <p:cNvPr id="989432038" name="Text 15"/>
          <p:cNvSpPr/>
          <p:nvPr/>
        </p:nvSpPr>
        <p:spPr bwMode="auto">
          <a:xfrm>
            <a:off x="868680" y="5897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F172A"/>
                </a:solidFill>
              </a:rPr>
              <a:t>Bottom line: Ollama Rocket WebTools v9 already demonstrates a compelling local-AI command center; the next milestone is reliability engineering.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821918" name=""/>
          <p:cNvSpPr txBox="1"/>
          <p:nvPr/>
        </p:nvSpPr>
        <p:spPr bwMode="auto">
          <a:xfrm rot="0" flipH="0" flipV="0">
            <a:off x="2314142" y="644071"/>
            <a:ext cx="8610014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highlight>
                  <a:srgbClr val="FFFFFF"/>
                </a:highlight>
              </a:rPr>
              <a:t>Running the olc_webtools v9</a:t>
            </a:r>
            <a:r>
              <a:rPr/>
              <a:t>a</a:t>
            </a:r>
            <a:endParaRPr>
              <a:highlight>
                <a:srgbClr val="FFFFFF"/>
              </a:highlight>
            </a:endParaRPr>
          </a:p>
          <a:p>
            <a:pPr>
              <a:defRPr/>
            </a:pPr>
            <a:endParaRPr>
              <a:highlight>
                <a:srgbClr val="FFFFFF"/>
              </a:highlight>
            </a:endParaRPr>
          </a:p>
          <a:p>
            <a:pPr>
              <a:defRPr/>
            </a:pPr>
            <a:r>
              <a:rPr/>
              <a:t>I use conda for my all projects as I don’t want to interfere my Linux system’s Pythton installation.</a:t>
            </a:r>
            <a:endParaRPr/>
          </a:p>
          <a:p>
            <a:pPr>
              <a:defRPr/>
            </a:pPr>
            <a:r>
              <a:rPr/>
              <a:t> </a:t>
            </a:r>
            <a:endParaRPr>
              <a:highlight>
                <a:srgbClr val="FFFFFF"/>
              </a:highlight>
            </a:endParaRPr>
          </a:p>
          <a:p>
            <a:pPr>
              <a:defRPr/>
            </a:pPr>
            <a:r>
              <a:rPr/>
              <a:t>cond</a:t>
            </a:r>
            <a:r>
              <a:rPr/>
              <a:t>a activate ollama_client’</a:t>
            </a:r>
            <a:endParaRPr/>
          </a:p>
          <a:p>
            <a:pPr>
              <a:defRPr/>
            </a:pPr>
            <a:r>
              <a:rPr/>
              <a:t>and ...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9420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8642" y="223610"/>
            <a:ext cx="5126285" cy="6410778"/>
          </a:xfrm>
          <a:prstGeom prst="rect">
            <a:avLst/>
          </a:prstGeom>
        </p:spPr>
      </p:pic>
      <p:pic>
        <p:nvPicPr>
          <p:cNvPr id="100415457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70999" y="223610"/>
            <a:ext cx="6632142" cy="62520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7381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-9071"/>
            <a:ext cx="9258300" cy="6798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963515" name=""/>
          <p:cNvSpPr txBox="1"/>
          <p:nvPr/>
        </p:nvSpPr>
        <p:spPr bwMode="auto">
          <a:xfrm rot="0" flipH="0" flipV="0">
            <a:off x="1425142" y="317499"/>
            <a:ext cx="1029859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Downside running LLM locally,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must have powerful GPU and lots of RAM.</a:t>
            </a:r>
            <a:endParaRPr/>
          </a:p>
          <a:p>
            <a:pPr>
              <a:defRPr/>
            </a:pPr>
            <a:r>
              <a:rPr/>
              <a:t>pros: Privacy, no cost, it is fun!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Ollama Rocket WebTools v9 - Script Analysis</dc:title>
  <dc:subject>Analysis of Ollama Rocket WebTools v9</dc:subject>
  <dc:creator>OpenAI</dc:creator>
  <cp:lastModifiedBy/>
  <cp:revision>2</cp:revision>
  <dcterms:created xsi:type="dcterms:W3CDTF">2026-04-04T20:51:20Z</dcterms:created>
  <dcterms:modified xsi:type="dcterms:W3CDTF">2026-04-05T00:09:12Z</dcterms:modified>
</cp:coreProperties>
</file>